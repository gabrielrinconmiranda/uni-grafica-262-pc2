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 id="2147483672" r:id="rId2"/>
  </p:sldMasterIdLst>
  <p:notesMasterIdLst>
    <p:notesMasterId r:id="rId4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Lst>
  <p:sldSz cx="9144000" cy="5143500" type="screen16x9"/>
  <p:notesSz cx="6858000" cy="9144000"/>
  <p:embeddedFontLst>
    <p:embeddedFont>
      <p:font typeface="Oswald" pitchFamily="2" charset="77"/>
      <p:regular r:id="rId46"/>
      <p:bold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94"/>
  </p:normalViewPr>
  <p:slideViewPr>
    <p:cSldViewPr snapToGrid="0">
      <p:cViewPr varScale="1">
        <p:scale>
          <a:sx n="156" d="100"/>
          <a:sy n="156" d="100"/>
        </p:scale>
        <p:origin x="504" y="16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font" Target="fonts/font2.fntdata"/><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1.fntdata"/><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d53bb6ad66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d53bb6ad66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d53bb6ad66_0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d53bb6ad66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d59951986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d59951986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d59951986d_0_1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d59951986d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d59951986d_0_1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d59951986d_0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d59951986d_0_1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d59951986d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d59951986d_0_1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d59951986d_0_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d59951986d_0_1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d59951986d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d59951986d_0_1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d59951986d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d59951986d_0_1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d59951986d_0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d59951986d_0_1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d59951986d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d53bb6ad66_0_7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d53bb6ad66_0_7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d53bb6ad66_0_7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d53bb6ad66_0_7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d59951986d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d59951986d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d59951986d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d59951986d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d59951986d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d59951986d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d59951986d_0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d59951986d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d59951986d_0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d59951986d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d53bb6ad66_0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d53bb6ad66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d53bb6ad66_0_1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d53bb6ad66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d53bb6ad66_0_7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d53bb6ad66_0_7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d53bb6ad66_0_7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d53bb6ad66_0_7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d53bb6ad66_0_1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d53bb6ad66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d59951986d_0_1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d59951986d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d53bb6ad66_0_7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d53bb6ad66_0_7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d53bb6ad66_0_1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d53bb6ad66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d59951986d_0_1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d59951986d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d53bb6ad66_0_1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d53bb6ad66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d53bb6ad66_0_1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d53bb6ad66_0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d53bb6ad66_0_1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d53bb6ad66_0_1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d53bb6ad66_0_6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d53bb6ad66_0_6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d53bb6ad66_0_6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gd53bb6ad66_0_6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d53bb6ad66_0_6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d53bb6ad66_0_6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d53bb6ad66_0_6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 name="Google Shape;387;gd53bb6ad66_0_6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d53bb6ad66_0_6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d53bb6ad66_0_6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d53bb6ad66_0_6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 name="Google Shape;415;gd53bb6ad66_0_6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d53bb6ad66_0_7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 name="Google Shape;425;gd53bb6ad66_0_7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gd53bb6ad66_0_7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5" name="Google Shape;435;gd53bb6ad66_0_7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d53bb6ad66_0_7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 name="Google Shape;445;gd53bb6ad66_0_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d53bb6ad66_0_7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d53bb6ad66_0_7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d53bb6ad66_0_5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 name="Google Shape;462;gd53bb6ad66_0_5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d53bb6ad66_0_5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9" name="Google Shape;469;gd53bb6ad66_0_5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1"/>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95"/>
        <p:cNvGrpSpPr/>
        <p:nvPr/>
      </p:nvGrpSpPr>
      <p:grpSpPr>
        <a:xfrm>
          <a:off x="0" y="0"/>
          <a:ext cx="0" cy="0"/>
          <a:chOff x="0" y="0"/>
          <a:chExt cx="0" cy="0"/>
        </a:xfrm>
      </p:grpSpPr>
      <p:sp>
        <p:nvSpPr>
          <p:cNvPr id="96" name="Google Shape;96;p25"/>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7" name="Google Shape;97;p25"/>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8" name="Google Shape;98;p2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99" name="Google Shape;99;p2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100" name="Google Shape;100;p2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Char char="●"/>
              <a:defRPr sz="1800">
                <a:solidFill>
                  <a:schemeClr val="dk2"/>
                </a:solidFill>
              </a:defRPr>
            </a:lvl1pPr>
            <a:lvl2pPr marL="914400" lvl="1" indent="-317500" rtl="0">
              <a:lnSpc>
                <a:spcPct val="115000"/>
              </a:lnSpc>
              <a:spcBef>
                <a:spcPts val="1600"/>
              </a:spcBef>
              <a:spcAft>
                <a:spcPts val="0"/>
              </a:spcAft>
              <a:buClr>
                <a:schemeClr val="dk2"/>
              </a:buClr>
              <a:buSzPts val="1400"/>
              <a:buChar char="○"/>
              <a:defRPr>
                <a:solidFill>
                  <a:schemeClr val="dk2"/>
                </a:solidFill>
              </a:defRPr>
            </a:lvl2pPr>
            <a:lvl3pPr marL="1371600" lvl="2" indent="-317500" rtl="0">
              <a:lnSpc>
                <a:spcPct val="115000"/>
              </a:lnSpc>
              <a:spcBef>
                <a:spcPts val="1600"/>
              </a:spcBef>
              <a:spcAft>
                <a:spcPts val="0"/>
              </a:spcAft>
              <a:buClr>
                <a:schemeClr val="dk2"/>
              </a:buClr>
              <a:buSzPts val="1400"/>
              <a:buChar char="■"/>
              <a:defRPr>
                <a:solidFill>
                  <a:schemeClr val="dk2"/>
                </a:solidFill>
              </a:defRPr>
            </a:lvl3pPr>
            <a:lvl4pPr marL="1828800" lvl="3" indent="-317500" rtl="0">
              <a:lnSpc>
                <a:spcPct val="115000"/>
              </a:lnSpc>
              <a:spcBef>
                <a:spcPts val="1600"/>
              </a:spcBef>
              <a:spcAft>
                <a:spcPts val="0"/>
              </a:spcAft>
              <a:buClr>
                <a:schemeClr val="dk2"/>
              </a:buClr>
              <a:buSzPts val="1400"/>
              <a:buChar char="●"/>
              <a:defRPr>
                <a:solidFill>
                  <a:schemeClr val="dk2"/>
                </a:solidFill>
              </a:defRPr>
            </a:lvl4pPr>
            <a:lvl5pPr marL="2286000" lvl="4" indent="-317500" rtl="0">
              <a:lnSpc>
                <a:spcPct val="115000"/>
              </a:lnSpc>
              <a:spcBef>
                <a:spcPts val="1600"/>
              </a:spcBef>
              <a:spcAft>
                <a:spcPts val="0"/>
              </a:spcAft>
              <a:buClr>
                <a:schemeClr val="dk2"/>
              </a:buClr>
              <a:buSzPts val="1400"/>
              <a:buChar char="○"/>
              <a:defRPr>
                <a:solidFill>
                  <a:schemeClr val="dk2"/>
                </a:solidFill>
              </a:defRPr>
            </a:lvl5pPr>
            <a:lvl6pPr marL="2743200" lvl="5" indent="-317500" rtl="0">
              <a:lnSpc>
                <a:spcPct val="115000"/>
              </a:lnSpc>
              <a:spcBef>
                <a:spcPts val="1600"/>
              </a:spcBef>
              <a:spcAft>
                <a:spcPts val="0"/>
              </a:spcAft>
              <a:buClr>
                <a:schemeClr val="dk2"/>
              </a:buClr>
              <a:buSzPts val="1400"/>
              <a:buChar char="■"/>
              <a:defRPr>
                <a:solidFill>
                  <a:schemeClr val="dk2"/>
                </a:solidFill>
              </a:defRPr>
            </a:lvl6pPr>
            <a:lvl7pPr marL="3200400" lvl="6" indent="-317500" rtl="0">
              <a:lnSpc>
                <a:spcPct val="115000"/>
              </a:lnSpc>
              <a:spcBef>
                <a:spcPts val="1600"/>
              </a:spcBef>
              <a:spcAft>
                <a:spcPts val="0"/>
              </a:spcAft>
              <a:buClr>
                <a:schemeClr val="dk2"/>
              </a:buClr>
              <a:buSzPts val="1400"/>
              <a:buChar char="●"/>
              <a:defRPr>
                <a:solidFill>
                  <a:schemeClr val="dk2"/>
                </a:solidFill>
              </a:defRPr>
            </a:lvl7pPr>
            <a:lvl8pPr marL="3657600" lvl="7" indent="-317500" rtl="0">
              <a:lnSpc>
                <a:spcPct val="115000"/>
              </a:lnSpc>
              <a:spcBef>
                <a:spcPts val="1600"/>
              </a:spcBef>
              <a:spcAft>
                <a:spcPts val="0"/>
              </a:spcAft>
              <a:buClr>
                <a:schemeClr val="dk2"/>
              </a:buClr>
              <a:buSzPts val="1400"/>
              <a:buChar char="○"/>
              <a:defRPr>
                <a:solidFill>
                  <a:schemeClr val="dk2"/>
                </a:solidFill>
              </a:defRPr>
            </a:lvl8pPr>
            <a:lvl9pPr marL="4114800" lvl="8" indent="-317500" rtl="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hyperlink" Target="https://www.deeplearningbook.org/" TargetMode="External"/><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hyperlink" Target="https://web.eecs.umich.edu/~justincj/slides/eecs498/FA2020/598_FA2020_lecture02.pdf" TargetMode="External"/><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hyperlink" Target="https://web.eecs.umich.edu/~justincj/slides/eecs498/FA2020/598_FA2020_lecture02.pdf" TargetMode="External"/><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hyperlink" Target="https://web.eecs.umich.edu/~justincj/slides/eecs498/FA2020/598_FA2020_lecture02.pdf" TargetMode="External"/><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hyperlink" Target="https://web.eecs.umich.edu/~justincj/slides/eecs498/FA2020/598_FA2020_lecture02.pdf" TargetMode="External"/><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hyperlink" Target="https://web.eecs.umich.edu/~justincj/slides/eecs498/FA2020/598_FA2020_lecture02.pdf" TargetMode="External"/><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hyperlink" Target="https://web.eecs.umich.edu/~justincj/slides/eecs498/FA2020/598_FA2020_lecture02.pdf" TargetMode="External"/><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hyperlink" Target="https://web.eecs.umich.edu/~justincj/slides/eecs498/FA2020/598_FA2020_lecture02.pdf" TargetMode="External"/><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hyperlink" Target="https://web.eecs.umich.edu/~justincj/slides/eecs498/FA2020/598_FA2020_lecture02.pdf" TargetMode="External"/><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4.xml"/><Relationship Id="rId4" Type="http://schemas.openxmlformats.org/officeDocument/2006/relationships/hyperlink" Target="https://i0.wp.com/developersbreach.com/wp-content/uploads/2020/08/cnn_banner.png?fit=1200%2C564&amp;ssl=1"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www.image-net.org/challenges/LSVRC/2014/results#clsloc" TargetMode="External"/><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hyperlink" Target="https://www.researchgate.net/profile/Kien-Nguyen-23/publication/321896881/figure/fig1/AS:573085821489153@1513645715549/The-evolution-of-the-winning-entries-on-the-ImageNet-Large-Scale-Visual-Recognition.png" TargetMode="External"/><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4.xml"/><Relationship Id="rId4" Type="http://schemas.openxmlformats.org/officeDocument/2006/relationships/hyperlink" Target="https://culurciello.medium.com/analysis-of-deep-neural-networks-dcf398e71aae"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culurciello.medium.com/analysis-of-deep-neural-networks-dcf398e71aae" TargetMode="External"/><Relationship Id="rId2" Type="http://schemas.openxmlformats.org/officeDocument/2006/relationships/notesSlide" Target="../notesSlides/notesSlide15.xml"/><Relationship Id="rId1" Type="http://schemas.openxmlformats.org/officeDocument/2006/relationships/slideLayout" Target="../slideLayouts/slideLayout14.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hyperlink" Target="https://culurciello.medium.com/analysis-of-deep-neural-networks-dcf398e71aae" TargetMode="External"/><Relationship Id="rId2" Type="http://schemas.openxmlformats.org/officeDocument/2006/relationships/notesSlide" Target="../notesSlides/notesSlide16.xml"/><Relationship Id="rId1" Type="http://schemas.openxmlformats.org/officeDocument/2006/relationships/slideLayout" Target="../slideLayouts/slideLayout14.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4.xml"/><Relationship Id="rId4" Type="http://schemas.openxmlformats.org/officeDocument/2006/relationships/hyperlink" Target="https://www.researchgate.net/publication/320052364_Classification_of_Architectural_Heritage_Images_Using_Deep_Learning_Techniques/figures?lo=1"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14.xml"/><Relationship Id="rId4" Type="http://schemas.openxmlformats.org/officeDocument/2006/relationships/hyperlink" Target="https://www.quora.com/What-is-the-VGG-neural-network"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4.xml"/><Relationship Id="rId4" Type="http://schemas.openxmlformats.org/officeDocument/2006/relationships/hyperlink" Target="https://medium.com/coinmonks/paper-review-of-vggnet-1st-runner-up-of-ilsvlc-2014-image-classification-d02355543a11"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14.xml"/><Relationship Id="rId4" Type="http://schemas.openxmlformats.org/officeDocument/2006/relationships/hyperlink" Target="https://web.eecs.umich.edu/~justincj/slides/eecs498/FA2020/598_FA2020_lecture05.pdf"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14.xml"/><Relationship Id="rId4" Type="http://schemas.openxmlformats.org/officeDocument/2006/relationships/hyperlink" Target="https://web.eecs.umich.edu/~justincj/slides/eecs498/FA2020/598_FA2020_lecture05.pdf"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hyperlink" Target="https://towardsdatascience.com/batch-normalization-in-3-levels-of-understanding-14c2da90a338" TargetMode="External"/><Relationship Id="rId2" Type="http://schemas.openxmlformats.org/officeDocument/2006/relationships/notesSlide" Target="../notesSlides/notesSlide26.xml"/><Relationship Id="rId1" Type="http://schemas.openxmlformats.org/officeDocument/2006/relationships/slideLayout" Target="../slideLayouts/slideLayout14.xml"/><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hyperlink" Target="https://towardsdatascience.com/batch-normalization-in-3-levels-of-understanding-14c2da90a338" TargetMode="External"/><Relationship Id="rId2" Type="http://schemas.openxmlformats.org/officeDocument/2006/relationships/notesSlide" Target="../notesSlides/notesSlide27.xml"/><Relationship Id="rId1" Type="http://schemas.openxmlformats.org/officeDocument/2006/relationships/slideLayout" Target="../slideLayouts/slideLayout14.xml"/><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14.xml"/><Relationship Id="rId4" Type="http://schemas.openxmlformats.org/officeDocument/2006/relationships/hyperlink" Target="https://i.ytimg.com/vi/YG60dtlLfGo/maxresdefault.jpg"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media/image27.gif"/><Relationship Id="rId2" Type="http://schemas.openxmlformats.org/officeDocument/2006/relationships/notesSlide" Target="../notesSlides/notesSlide31.xml"/><Relationship Id="rId1" Type="http://schemas.openxmlformats.org/officeDocument/2006/relationships/slideLayout" Target="../slideLayouts/slideLayout14.xml"/><Relationship Id="rId4" Type="http://schemas.openxmlformats.org/officeDocument/2006/relationships/image" Target="../media/image28.png"/></Relationships>
</file>

<file path=ppt/slides/_rels/slide32.xml.rels><?xml version="1.0" encoding="UTF-8" standalone="yes"?>
<Relationships xmlns="http://schemas.openxmlformats.org/package/2006/relationships"><Relationship Id="rId3" Type="http://schemas.openxmlformats.org/officeDocument/2006/relationships/image" Target="../media/image29.gif"/><Relationship Id="rId2" Type="http://schemas.openxmlformats.org/officeDocument/2006/relationships/notesSlide" Target="../notesSlides/notesSlide32.xml"/><Relationship Id="rId1" Type="http://schemas.openxmlformats.org/officeDocument/2006/relationships/slideLayout" Target="../slideLayouts/slideLayout14.xml"/><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image" Target="../media/image31.gif"/><Relationship Id="rId2" Type="http://schemas.openxmlformats.org/officeDocument/2006/relationships/notesSlide" Target="../notesSlides/notesSlide33.xml"/><Relationship Id="rId1" Type="http://schemas.openxmlformats.org/officeDocument/2006/relationships/slideLayout" Target="../slideLayouts/slideLayout14.xml"/><Relationship Id="rId4" Type="http://schemas.openxmlformats.org/officeDocument/2006/relationships/image" Target="../media/image32.png"/></Relationships>
</file>

<file path=ppt/slides/_rels/slide34.xml.rels><?xml version="1.0" encoding="UTF-8" standalone="yes"?>
<Relationships xmlns="http://schemas.openxmlformats.org/package/2006/relationships"><Relationship Id="rId3" Type="http://schemas.openxmlformats.org/officeDocument/2006/relationships/image" Target="../media/image31.gif"/><Relationship Id="rId2" Type="http://schemas.openxmlformats.org/officeDocument/2006/relationships/notesSlide" Target="../notesSlides/notesSlide34.xml"/><Relationship Id="rId1" Type="http://schemas.openxmlformats.org/officeDocument/2006/relationships/slideLayout" Target="../slideLayouts/slideLayout14.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5.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35.xml"/><Relationship Id="rId1" Type="http://schemas.openxmlformats.org/officeDocument/2006/relationships/slideLayout" Target="../slideLayouts/slideLayout14.xml"/><Relationship Id="rId6" Type="http://schemas.openxmlformats.org/officeDocument/2006/relationships/image" Target="../media/image38.png"/><Relationship Id="rId5" Type="http://schemas.openxmlformats.org/officeDocument/2006/relationships/image" Target="../media/image34.png"/><Relationship Id="rId4" Type="http://schemas.openxmlformats.org/officeDocument/2006/relationships/image" Target="../media/image37.png"/></Relationships>
</file>

<file path=ppt/slides/_rels/slide36.xml.rels><?xml version="1.0" encoding="UTF-8" standalone="yes"?>
<Relationships xmlns="http://schemas.openxmlformats.org/package/2006/relationships"><Relationship Id="rId3" Type="http://schemas.openxmlformats.org/officeDocument/2006/relationships/image" Target="../media/image39.gif"/><Relationship Id="rId2" Type="http://schemas.openxmlformats.org/officeDocument/2006/relationships/notesSlide" Target="../notesSlides/notesSlide36.xml"/><Relationship Id="rId1" Type="http://schemas.openxmlformats.org/officeDocument/2006/relationships/slideLayout" Target="../slideLayouts/slideLayout14.xml"/><Relationship Id="rId4" Type="http://schemas.openxmlformats.org/officeDocument/2006/relationships/image" Target="../media/image40.png"/></Relationships>
</file>

<file path=ppt/slides/_rels/slide37.xml.rels><?xml version="1.0" encoding="UTF-8" standalone="yes"?>
<Relationships xmlns="http://schemas.openxmlformats.org/package/2006/relationships"><Relationship Id="rId3" Type="http://schemas.openxmlformats.org/officeDocument/2006/relationships/image" Target="../media/image41.gif"/><Relationship Id="rId2" Type="http://schemas.openxmlformats.org/officeDocument/2006/relationships/notesSlide" Target="../notesSlides/notesSlide37.xml"/><Relationship Id="rId1" Type="http://schemas.openxmlformats.org/officeDocument/2006/relationships/slideLayout" Target="../slideLayouts/slideLayout14.xml"/><Relationship Id="rId4" Type="http://schemas.openxmlformats.org/officeDocument/2006/relationships/image" Target="../media/image42.png"/></Relationships>
</file>

<file path=ppt/slides/_rels/slide38.xml.rels><?xml version="1.0" encoding="UTF-8" standalone="yes"?>
<Relationships xmlns="http://schemas.openxmlformats.org/package/2006/relationships"><Relationship Id="rId3" Type="http://schemas.openxmlformats.org/officeDocument/2006/relationships/image" Target="../media/image43.gif"/><Relationship Id="rId2" Type="http://schemas.openxmlformats.org/officeDocument/2006/relationships/notesSlide" Target="../notesSlides/notesSlide38.xml"/><Relationship Id="rId1" Type="http://schemas.openxmlformats.org/officeDocument/2006/relationships/slideLayout" Target="../slideLayouts/slideLayout14.xml"/><Relationship Id="rId4" Type="http://schemas.openxmlformats.org/officeDocument/2006/relationships/image" Target="../media/image42.png"/></Relationships>
</file>

<file path=ppt/slides/_rels/slide39.xml.rels><?xml version="1.0" encoding="UTF-8" standalone="yes"?>
<Relationships xmlns="http://schemas.openxmlformats.org/package/2006/relationships"><Relationship Id="rId3" Type="http://schemas.openxmlformats.org/officeDocument/2006/relationships/image" Target="../media/image44.gif"/><Relationship Id="rId2" Type="http://schemas.openxmlformats.org/officeDocument/2006/relationships/notesSlide" Target="../notesSlides/notesSlide39.xml"/><Relationship Id="rId1" Type="http://schemas.openxmlformats.org/officeDocument/2006/relationships/slideLayout" Target="../slideLayouts/slideLayout14.xml"/><Relationship Id="rId4" Type="http://schemas.openxmlformats.org/officeDocument/2006/relationships/image" Target="../media/image45.png"/></Relationships>
</file>

<file path=ppt/slides/_rels/slide4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1.xml"/><Relationship Id="rId1" Type="http://schemas.openxmlformats.org/officeDocument/2006/relationships/slideLayout" Target="../slideLayouts/slideLayout14.xml"/><Relationship Id="rId4" Type="http://schemas.openxmlformats.org/officeDocument/2006/relationships/hyperlink" Target="https://www.kaggle.com/shivamb/3d-convolutions-understanding-use-case"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48.gif"/><Relationship Id="rId2" Type="http://schemas.openxmlformats.org/officeDocument/2006/relationships/notesSlide" Target="../notesSlides/notesSlide4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6" name="Google Shape;106;p26"/>
          <p:cNvSpPr txBox="1">
            <a:spLocks noGrp="1"/>
          </p:cNvSpPr>
          <p:nvPr>
            <p:ph type="subTitle" idx="1"/>
          </p:nvPr>
        </p:nvSpPr>
        <p:spPr>
          <a:xfrm>
            <a:off x="311700" y="3123100"/>
            <a:ext cx="8520600" cy="814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dirty="0">
                <a:solidFill>
                  <a:srgbClr val="000000"/>
                </a:solidFill>
                <a:latin typeface="Oswald"/>
                <a:ea typeface="Oswald"/>
                <a:cs typeface="Oswald"/>
                <a:sym typeface="Oswald"/>
              </a:rPr>
              <a:t>Redes Convolucionales para Clasificación de Imágenes</a:t>
            </a:r>
            <a:endParaRPr dirty="0">
              <a:solidFill>
                <a:srgbClr val="000000"/>
              </a:solidFill>
              <a:latin typeface="Oswald"/>
              <a:ea typeface="Oswald"/>
              <a:cs typeface="Oswald"/>
              <a:sym typeface="Oswa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7"/>
          <p:cNvSpPr txBox="1">
            <a:spLocks noGrp="1"/>
          </p:cNvSpPr>
          <p:nvPr>
            <p:ph type="title"/>
          </p:nvPr>
        </p:nvSpPr>
        <p:spPr>
          <a:xfrm>
            <a:off x="477625" y="334400"/>
            <a:ext cx="4204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Lectura Recomendada</a:t>
            </a:r>
            <a:endParaRPr i="1">
              <a:solidFill>
                <a:srgbClr val="000000"/>
              </a:solidFill>
              <a:latin typeface="Oswald"/>
              <a:ea typeface="Oswald"/>
              <a:cs typeface="Oswald"/>
              <a:sym typeface="Oswald"/>
            </a:endParaRPr>
          </a:p>
        </p:txBody>
      </p:sp>
      <p:sp>
        <p:nvSpPr>
          <p:cNvPr id="112" name="Google Shape;112;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s"/>
              <a:t>2</a:t>
            </a:fld>
            <a:endParaRPr/>
          </a:p>
        </p:txBody>
      </p:sp>
      <p:sp>
        <p:nvSpPr>
          <p:cNvPr id="113" name="Google Shape;113;p27"/>
          <p:cNvSpPr txBox="1"/>
          <p:nvPr/>
        </p:nvSpPr>
        <p:spPr>
          <a:xfrm>
            <a:off x="592550" y="1731200"/>
            <a:ext cx="4740600" cy="191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2400" b="1">
                <a:solidFill>
                  <a:srgbClr val="313131"/>
                </a:solidFill>
                <a:latin typeface="Courier New"/>
                <a:ea typeface="Courier New"/>
                <a:cs typeface="Courier New"/>
                <a:sym typeface="Courier New"/>
              </a:rPr>
              <a:t>Deep Learning</a:t>
            </a:r>
            <a:endParaRPr sz="2400" b="1">
              <a:solidFill>
                <a:srgbClr val="313131"/>
              </a:solidFill>
              <a:latin typeface="Courier New"/>
              <a:ea typeface="Courier New"/>
              <a:cs typeface="Courier New"/>
              <a:sym typeface="Courier New"/>
            </a:endParaRPr>
          </a:p>
          <a:p>
            <a:pPr marL="0" lvl="0" indent="0" algn="l" rtl="0">
              <a:spcBef>
                <a:spcPts val="0"/>
              </a:spcBef>
              <a:spcAft>
                <a:spcPts val="0"/>
              </a:spcAft>
              <a:buNone/>
            </a:pPr>
            <a:r>
              <a:rPr lang="es" sz="1600">
                <a:solidFill>
                  <a:srgbClr val="313131"/>
                </a:solidFill>
                <a:latin typeface="Courier New"/>
                <a:ea typeface="Courier New"/>
                <a:cs typeface="Courier New"/>
                <a:sym typeface="Courier New"/>
              </a:rPr>
              <a:t>Ian Goodfellow and Yoshua Bengio and Aaron Courville</a:t>
            </a:r>
            <a:endParaRPr sz="1600">
              <a:solidFill>
                <a:srgbClr val="313131"/>
              </a:solidFill>
              <a:latin typeface="Courier New"/>
              <a:ea typeface="Courier New"/>
              <a:cs typeface="Courier New"/>
              <a:sym typeface="Courier New"/>
            </a:endParaRPr>
          </a:p>
          <a:p>
            <a:pPr marL="0" lvl="0" indent="0" algn="l" rtl="0">
              <a:spcBef>
                <a:spcPts val="0"/>
              </a:spcBef>
              <a:spcAft>
                <a:spcPts val="0"/>
              </a:spcAft>
              <a:buNone/>
            </a:pPr>
            <a:r>
              <a:rPr lang="es" sz="1600" u="sng">
                <a:solidFill>
                  <a:schemeClr val="hlink"/>
                </a:solidFill>
                <a:latin typeface="Courier New"/>
                <a:ea typeface="Courier New"/>
                <a:cs typeface="Courier New"/>
                <a:sym typeface="Courier New"/>
                <a:hlinkClick r:id="rId3"/>
              </a:rPr>
              <a:t>https://www.deeplearningbook.org/</a:t>
            </a:r>
            <a:r>
              <a:rPr lang="es" sz="1600">
                <a:solidFill>
                  <a:srgbClr val="313131"/>
                </a:solidFill>
                <a:latin typeface="Courier New"/>
                <a:ea typeface="Courier New"/>
                <a:cs typeface="Courier New"/>
                <a:sym typeface="Courier New"/>
              </a:rPr>
              <a:t> </a:t>
            </a:r>
            <a:endParaRPr sz="1600">
              <a:solidFill>
                <a:srgbClr val="313131"/>
              </a:solidFill>
              <a:latin typeface="Courier New"/>
              <a:ea typeface="Courier New"/>
              <a:cs typeface="Courier New"/>
              <a:sym typeface="Courier New"/>
            </a:endParaRPr>
          </a:p>
          <a:p>
            <a:pPr marL="0" lvl="0" indent="0" algn="l" rtl="0">
              <a:spcBef>
                <a:spcPts val="0"/>
              </a:spcBef>
              <a:spcAft>
                <a:spcPts val="0"/>
              </a:spcAft>
              <a:buNone/>
            </a:pPr>
            <a:endParaRPr sz="1100">
              <a:solidFill>
                <a:srgbClr val="313131"/>
              </a:solidFill>
              <a:latin typeface="Courier New"/>
              <a:ea typeface="Courier New"/>
              <a:cs typeface="Courier New"/>
              <a:sym typeface="Courier New"/>
            </a:endParaRPr>
          </a:p>
          <a:p>
            <a:pPr marL="190500" marR="190500" lvl="0" indent="0" algn="l" rtl="0">
              <a:lnSpc>
                <a:spcPct val="142000"/>
              </a:lnSpc>
              <a:spcBef>
                <a:spcPts val="0"/>
              </a:spcBef>
              <a:spcAft>
                <a:spcPts val="0"/>
              </a:spcAft>
              <a:buClr>
                <a:schemeClr val="dk1"/>
              </a:buClr>
              <a:buSzPts val="1100"/>
              <a:buFont typeface="Arial"/>
              <a:buNone/>
            </a:pPr>
            <a:endParaRPr sz="1100">
              <a:solidFill>
                <a:srgbClr val="313131"/>
              </a:solidFill>
              <a:latin typeface="Courier New"/>
              <a:ea typeface="Courier New"/>
              <a:cs typeface="Courier New"/>
              <a:sym typeface="Courier New"/>
            </a:endParaRPr>
          </a:p>
          <a:p>
            <a:pPr marL="0" lvl="0" indent="0" algn="l" rtl="0">
              <a:spcBef>
                <a:spcPts val="0"/>
              </a:spcBef>
              <a:spcAft>
                <a:spcPts val="0"/>
              </a:spcAft>
              <a:buNone/>
            </a:pPr>
            <a:endParaRPr/>
          </a:p>
        </p:txBody>
      </p:sp>
      <p:pic>
        <p:nvPicPr>
          <p:cNvPr id="114" name="Google Shape;114;p27"/>
          <p:cNvPicPr preferRelativeResize="0"/>
          <p:nvPr/>
        </p:nvPicPr>
        <p:blipFill>
          <a:blip r:embed="rId4">
            <a:alphaModFix/>
          </a:blip>
          <a:stretch>
            <a:fillRect/>
          </a:stretch>
        </p:blipFill>
        <p:spPr>
          <a:xfrm rot="613314">
            <a:off x="5690725" y="881100"/>
            <a:ext cx="2476500" cy="32480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8"/>
          <p:cNvSpPr txBox="1">
            <a:spLocks noGrp="1"/>
          </p:cNvSpPr>
          <p:nvPr>
            <p:ph type="title"/>
          </p:nvPr>
        </p:nvSpPr>
        <p:spPr>
          <a:xfrm>
            <a:off x="592550" y="362700"/>
            <a:ext cx="775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Datasets de clasificación: número de pixels de entrenamiento</a:t>
            </a:r>
            <a:endParaRPr i="1">
              <a:solidFill>
                <a:srgbClr val="000000"/>
              </a:solidFill>
              <a:latin typeface="Oswald"/>
              <a:ea typeface="Oswald"/>
              <a:cs typeface="Oswald"/>
              <a:sym typeface="Oswald"/>
            </a:endParaRPr>
          </a:p>
        </p:txBody>
      </p:sp>
      <p:sp>
        <p:nvSpPr>
          <p:cNvPr id="120" name="Google Shape;120;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s"/>
              <a:t>3</a:t>
            </a:fld>
            <a:endParaRPr/>
          </a:p>
        </p:txBody>
      </p:sp>
      <p:sp>
        <p:nvSpPr>
          <p:cNvPr id="121" name="Google Shape;121;p28"/>
          <p:cNvSpPr txBox="1"/>
          <p:nvPr/>
        </p:nvSpPr>
        <p:spPr>
          <a:xfrm>
            <a:off x="576275" y="4782250"/>
            <a:ext cx="80190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000" u="sng">
                <a:solidFill>
                  <a:schemeClr val="hlink"/>
                </a:solidFill>
                <a:hlinkClick r:id="rId3"/>
              </a:rPr>
              <a:t>https://web.eecs.umich.edu/~justincj/slides/eecs498/FA2020/598_FA2020_lecture02.pdf</a:t>
            </a:r>
            <a:r>
              <a:rPr lang="es" sz="1000"/>
              <a:t> </a:t>
            </a:r>
            <a:endParaRPr sz="1000"/>
          </a:p>
        </p:txBody>
      </p:sp>
      <p:pic>
        <p:nvPicPr>
          <p:cNvPr id="122" name="Google Shape;122;p28"/>
          <p:cNvPicPr preferRelativeResize="0"/>
          <p:nvPr/>
        </p:nvPicPr>
        <p:blipFill>
          <a:blip r:embed="rId4">
            <a:alphaModFix/>
          </a:blip>
          <a:stretch>
            <a:fillRect/>
          </a:stretch>
        </p:blipFill>
        <p:spPr>
          <a:xfrm>
            <a:off x="815749" y="1389175"/>
            <a:ext cx="7100550" cy="33930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9"/>
          <p:cNvSpPr txBox="1">
            <a:spLocks noGrp="1"/>
          </p:cNvSpPr>
          <p:nvPr>
            <p:ph type="title"/>
          </p:nvPr>
        </p:nvSpPr>
        <p:spPr>
          <a:xfrm>
            <a:off x="592550" y="362700"/>
            <a:ext cx="775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Datasets de clasificación: MNIST</a:t>
            </a:r>
            <a:endParaRPr i="1">
              <a:solidFill>
                <a:srgbClr val="000000"/>
              </a:solidFill>
              <a:latin typeface="Oswald"/>
              <a:ea typeface="Oswald"/>
              <a:cs typeface="Oswald"/>
              <a:sym typeface="Oswald"/>
            </a:endParaRPr>
          </a:p>
        </p:txBody>
      </p:sp>
      <p:sp>
        <p:nvSpPr>
          <p:cNvPr id="128" name="Google Shape;128;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s"/>
              <a:t>4</a:t>
            </a:fld>
            <a:endParaRPr/>
          </a:p>
        </p:txBody>
      </p:sp>
      <p:sp>
        <p:nvSpPr>
          <p:cNvPr id="129" name="Google Shape;129;p29"/>
          <p:cNvSpPr txBox="1"/>
          <p:nvPr/>
        </p:nvSpPr>
        <p:spPr>
          <a:xfrm>
            <a:off x="576275" y="4782250"/>
            <a:ext cx="80190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000" u="sng">
                <a:solidFill>
                  <a:schemeClr val="hlink"/>
                </a:solidFill>
                <a:hlinkClick r:id="rId3"/>
              </a:rPr>
              <a:t>https://web.eecs.umich.edu/~justincj/slides/eecs498/FA2020/598_FA2020_lecture02.pdf</a:t>
            </a:r>
            <a:r>
              <a:rPr lang="es" sz="1000"/>
              <a:t> </a:t>
            </a:r>
            <a:endParaRPr sz="1000"/>
          </a:p>
        </p:txBody>
      </p:sp>
      <p:pic>
        <p:nvPicPr>
          <p:cNvPr id="130" name="Google Shape;130;p29"/>
          <p:cNvPicPr preferRelativeResize="0"/>
          <p:nvPr/>
        </p:nvPicPr>
        <p:blipFill>
          <a:blip r:embed="rId4">
            <a:alphaModFix/>
          </a:blip>
          <a:stretch>
            <a:fillRect/>
          </a:stretch>
        </p:blipFill>
        <p:spPr>
          <a:xfrm>
            <a:off x="888100" y="1029200"/>
            <a:ext cx="7098210" cy="35420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30"/>
          <p:cNvSpPr txBox="1">
            <a:spLocks noGrp="1"/>
          </p:cNvSpPr>
          <p:nvPr>
            <p:ph type="title"/>
          </p:nvPr>
        </p:nvSpPr>
        <p:spPr>
          <a:xfrm>
            <a:off x="592550" y="362700"/>
            <a:ext cx="775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Datasets de clasificación: CIFAR-10</a:t>
            </a:r>
            <a:endParaRPr i="1">
              <a:solidFill>
                <a:srgbClr val="000000"/>
              </a:solidFill>
              <a:latin typeface="Oswald"/>
              <a:ea typeface="Oswald"/>
              <a:cs typeface="Oswald"/>
              <a:sym typeface="Oswald"/>
            </a:endParaRPr>
          </a:p>
        </p:txBody>
      </p:sp>
      <p:sp>
        <p:nvSpPr>
          <p:cNvPr id="136" name="Google Shape;136;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s"/>
              <a:t>5</a:t>
            </a:fld>
            <a:endParaRPr/>
          </a:p>
        </p:txBody>
      </p:sp>
      <p:sp>
        <p:nvSpPr>
          <p:cNvPr id="137" name="Google Shape;137;p30"/>
          <p:cNvSpPr txBox="1"/>
          <p:nvPr/>
        </p:nvSpPr>
        <p:spPr>
          <a:xfrm>
            <a:off x="576275" y="4782250"/>
            <a:ext cx="80190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000" u="sng">
                <a:solidFill>
                  <a:schemeClr val="hlink"/>
                </a:solidFill>
                <a:hlinkClick r:id="rId3"/>
              </a:rPr>
              <a:t>https://web.eecs.umich.edu/~justincj/slides/eecs498/FA2020/598_FA2020_lecture02.pdf</a:t>
            </a:r>
            <a:r>
              <a:rPr lang="es" sz="1000"/>
              <a:t> </a:t>
            </a:r>
            <a:endParaRPr sz="1000"/>
          </a:p>
        </p:txBody>
      </p:sp>
      <p:pic>
        <p:nvPicPr>
          <p:cNvPr id="138" name="Google Shape;138;p30"/>
          <p:cNvPicPr preferRelativeResize="0"/>
          <p:nvPr/>
        </p:nvPicPr>
        <p:blipFill>
          <a:blip r:embed="rId4">
            <a:alphaModFix/>
          </a:blip>
          <a:stretch>
            <a:fillRect/>
          </a:stretch>
        </p:blipFill>
        <p:spPr>
          <a:xfrm>
            <a:off x="576263" y="1050425"/>
            <a:ext cx="7867623" cy="35420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31"/>
          <p:cNvSpPr txBox="1">
            <a:spLocks noGrp="1"/>
          </p:cNvSpPr>
          <p:nvPr>
            <p:ph type="title"/>
          </p:nvPr>
        </p:nvSpPr>
        <p:spPr>
          <a:xfrm>
            <a:off x="592550" y="362700"/>
            <a:ext cx="775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Datasets de clasificación: CIFAR-100</a:t>
            </a:r>
            <a:endParaRPr i="1">
              <a:solidFill>
                <a:srgbClr val="000000"/>
              </a:solidFill>
              <a:latin typeface="Oswald"/>
              <a:ea typeface="Oswald"/>
              <a:cs typeface="Oswald"/>
              <a:sym typeface="Oswald"/>
            </a:endParaRPr>
          </a:p>
        </p:txBody>
      </p:sp>
      <p:sp>
        <p:nvSpPr>
          <p:cNvPr id="144" name="Google Shape;144;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s"/>
              <a:t>6</a:t>
            </a:fld>
            <a:endParaRPr/>
          </a:p>
        </p:txBody>
      </p:sp>
      <p:sp>
        <p:nvSpPr>
          <p:cNvPr id="145" name="Google Shape;145;p31"/>
          <p:cNvSpPr txBox="1"/>
          <p:nvPr/>
        </p:nvSpPr>
        <p:spPr>
          <a:xfrm>
            <a:off x="576275" y="4782250"/>
            <a:ext cx="80190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000" u="sng">
                <a:solidFill>
                  <a:schemeClr val="hlink"/>
                </a:solidFill>
                <a:hlinkClick r:id="rId3"/>
              </a:rPr>
              <a:t>https://web.eecs.umich.edu/~justincj/slides/eecs498/FA2020/598_FA2020_lecture02.pdf</a:t>
            </a:r>
            <a:r>
              <a:rPr lang="es" sz="1000"/>
              <a:t> </a:t>
            </a:r>
            <a:endParaRPr sz="1000"/>
          </a:p>
        </p:txBody>
      </p:sp>
      <p:pic>
        <p:nvPicPr>
          <p:cNvPr id="146" name="Google Shape;146;p31"/>
          <p:cNvPicPr preferRelativeResize="0"/>
          <p:nvPr/>
        </p:nvPicPr>
        <p:blipFill>
          <a:blip r:embed="rId4">
            <a:alphaModFix/>
          </a:blip>
          <a:stretch>
            <a:fillRect/>
          </a:stretch>
        </p:blipFill>
        <p:spPr>
          <a:xfrm>
            <a:off x="329275" y="935400"/>
            <a:ext cx="7825757" cy="35420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2"/>
          <p:cNvSpPr txBox="1">
            <a:spLocks noGrp="1"/>
          </p:cNvSpPr>
          <p:nvPr>
            <p:ph type="title"/>
          </p:nvPr>
        </p:nvSpPr>
        <p:spPr>
          <a:xfrm>
            <a:off x="592550" y="362700"/>
            <a:ext cx="775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Datasets de clasificación: ImageNet</a:t>
            </a:r>
            <a:endParaRPr i="1">
              <a:solidFill>
                <a:srgbClr val="000000"/>
              </a:solidFill>
              <a:latin typeface="Oswald"/>
              <a:ea typeface="Oswald"/>
              <a:cs typeface="Oswald"/>
              <a:sym typeface="Oswald"/>
            </a:endParaRPr>
          </a:p>
        </p:txBody>
      </p:sp>
      <p:sp>
        <p:nvSpPr>
          <p:cNvPr id="152" name="Google Shape;152;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s"/>
              <a:t>7</a:t>
            </a:fld>
            <a:endParaRPr/>
          </a:p>
        </p:txBody>
      </p:sp>
      <p:sp>
        <p:nvSpPr>
          <p:cNvPr id="153" name="Google Shape;153;p32"/>
          <p:cNvSpPr txBox="1"/>
          <p:nvPr/>
        </p:nvSpPr>
        <p:spPr>
          <a:xfrm>
            <a:off x="576275" y="4782250"/>
            <a:ext cx="80190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000" u="sng">
                <a:solidFill>
                  <a:schemeClr val="hlink"/>
                </a:solidFill>
                <a:hlinkClick r:id="rId3"/>
              </a:rPr>
              <a:t>https://web.eecs.umich.edu/~justincj/slides/eecs498/FA2020/598_FA2020_lecture02.pdf</a:t>
            </a:r>
            <a:r>
              <a:rPr lang="es" sz="1000"/>
              <a:t> </a:t>
            </a:r>
            <a:endParaRPr sz="1000"/>
          </a:p>
        </p:txBody>
      </p:sp>
      <p:pic>
        <p:nvPicPr>
          <p:cNvPr id="154" name="Google Shape;154;p32"/>
          <p:cNvPicPr preferRelativeResize="0"/>
          <p:nvPr/>
        </p:nvPicPr>
        <p:blipFill>
          <a:blip r:embed="rId4">
            <a:alphaModFix/>
          </a:blip>
          <a:stretch>
            <a:fillRect/>
          </a:stretch>
        </p:blipFill>
        <p:spPr>
          <a:xfrm>
            <a:off x="638363" y="1024125"/>
            <a:ext cx="7867264" cy="342301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33"/>
          <p:cNvSpPr txBox="1">
            <a:spLocks noGrp="1"/>
          </p:cNvSpPr>
          <p:nvPr>
            <p:ph type="title"/>
          </p:nvPr>
        </p:nvSpPr>
        <p:spPr>
          <a:xfrm>
            <a:off x="592550" y="362700"/>
            <a:ext cx="775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Datasets de clasificación: ImageNet</a:t>
            </a:r>
            <a:endParaRPr i="1">
              <a:solidFill>
                <a:srgbClr val="000000"/>
              </a:solidFill>
              <a:latin typeface="Oswald"/>
              <a:ea typeface="Oswald"/>
              <a:cs typeface="Oswald"/>
              <a:sym typeface="Oswald"/>
            </a:endParaRPr>
          </a:p>
        </p:txBody>
      </p:sp>
      <p:sp>
        <p:nvSpPr>
          <p:cNvPr id="160" name="Google Shape;160;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s"/>
              <a:t>8</a:t>
            </a:fld>
            <a:endParaRPr/>
          </a:p>
        </p:txBody>
      </p:sp>
      <p:sp>
        <p:nvSpPr>
          <p:cNvPr id="161" name="Google Shape;161;p33"/>
          <p:cNvSpPr txBox="1"/>
          <p:nvPr/>
        </p:nvSpPr>
        <p:spPr>
          <a:xfrm>
            <a:off x="576275" y="4782250"/>
            <a:ext cx="80190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000" u="sng">
                <a:solidFill>
                  <a:schemeClr val="hlink"/>
                </a:solidFill>
                <a:hlinkClick r:id="rId3"/>
              </a:rPr>
              <a:t>https://web.eecs.umich.edu/~justincj/slides/eecs498/FA2020/598_FA2020_lecture02.pdf</a:t>
            </a:r>
            <a:r>
              <a:rPr lang="es" sz="1000"/>
              <a:t> </a:t>
            </a:r>
            <a:endParaRPr sz="1000"/>
          </a:p>
        </p:txBody>
      </p:sp>
      <p:pic>
        <p:nvPicPr>
          <p:cNvPr id="162" name="Google Shape;162;p33"/>
          <p:cNvPicPr preferRelativeResize="0"/>
          <p:nvPr/>
        </p:nvPicPr>
        <p:blipFill>
          <a:blip r:embed="rId4">
            <a:alphaModFix/>
          </a:blip>
          <a:stretch>
            <a:fillRect/>
          </a:stretch>
        </p:blipFill>
        <p:spPr>
          <a:xfrm>
            <a:off x="488138" y="1002900"/>
            <a:ext cx="7968021" cy="35420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34"/>
          <p:cNvSpPr txBox="1">
            <a:spLocks noGrp="1"/>
          </p:cNvSpPr>
          <p:nvPr>
            <p:ph type="title"/>
          </p:nvPr>
        </p:nvSpPr>
        <p:spPr>
          <a:xfrm>
            <a:off x="592550" y="362700"/>
            <a:ext cx="775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Datasets de clasificación: MIT Places</a:t>
            </a:r>
            <a:endParaRPr i="1">
              <a:solidFill>
                <a:srgbClr val="000000"/>
              </a:solidFill>
              <a:latin typeface="Oswald"/>
              <a:ea typeface="Oswald"/>
              <a:cs typeface="Oswald"/>
              <a:sym typeface="Oswald"/>
            </a:endParaRPr>
          </a:p>
        </p:txBody>
      </p:sp>
      <p:sp>
        <p:nvSpPr>
          <p:cNvPr id="168" name="Google Shape;168;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s"/>
              <a:t>9</a:t>
            </a:fld>
            <a:endParaRPr/>
          </a:p>
        </p:txBody>
      </p:sp>
      <p:sp>
        <p:nvSpPr>
          <p:cNvPr id="169" name="Google Shape;169;p34"/>
          <p:cNvSpPr txBox="1"/>
          <p:nvPr/>
        </p:nvSpPr>
        <p:spPr>
          <a:xfrm>
            <a:off x="576275" y="4782250"/>
            <a:ext cx="80190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000" u="sng">
                <a:solidFill>
                  <a:schemeClr val="hlink"/>
                </a:solidFill>
                <a:hlinkClick r:id="rId3"/>
              </a:rPr>
              <a:t>https://web.eecs.umich.edu/~justincj/slides/eecs498/FA2020/598_FA2020_lecture02.pdf</a:t>
            </a:r>
            <a:r>
              <a:rPr lang="es" sz="1000"/>
              <a:t> </a:t>
            </a:r>
            <a:endParaRPr sz="1000"/>
          </a:p>
        </p:txBody>
      </p:sp>
      <p:pic>
        <p:nvPicPr>
          <p:cNvPr id="170" name="Google Shape;170;p34"/>
          <p:cNvPicPr preferRelativeResize="0"/>
          <p:nvPr/>
        </p:nvPicPr>
        <p:blipFill>
          <a:blip r:embed="rId4">
            <a:alphaModFix/>
          </a:blip>
          <a:stretch>
            <a:fillRect/>
          </a:stretch>
        </p:blipFill>
        <p:spPr>
          <a:xfrm>
            <a:off x="509200" y="1147313"/>
            <a:ext cx="8125605" cy="342301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5"/>
          <p:cNvSpPr txBox="1">
            <a:spLocks noGrp="1"/>
          </p:cNvSpPr>
          <p:nvPr>
            <p:ph type="title"/>
          </p:nvPr>
        </p:nvSpPr>
        <p:spPr>
          <a:xfrm>
            <a:off x="592550" y="362700"/>
            <a:ext cx="775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Datasets de clasificación: Omniglot</a:t>
            </a:r>
            <a:endParaRPr i="1">
              <a:solidFill>
                <a:srgbClr val="000000"/>
              </a:solidFill>
              <a:latin typeface="Oswald"/>
              <a:ea typeface="Oswald"/>
              <a:cs typeface="Oswald"/>
              <a:sym typeface="Oswald"/>
            </a:endParaRPr>
          </a:p>
        </p:txBody>
      </p:sp>
      <p:sp>
        <p:nvSpPr>
          <p:cNvPr id="176" name="Google Shape;176;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s"/>
              <a:t>10</a:t>
            </a:fld>
            <a:endParaRPr/>
          </a:p>
        </p:txBody>
      </p:sp>
      <p:sp>
        <p:nvSpPr>
          <p:cNvPr id="177" name="Google Shape;177;p35"/>
          <p:cNvSpPr txBox="1"/>
          <p:nvPr/>
        </p:nvSpPr>
        <p:spPr>
          <a:xfrm>
            <a:off x="576275" y="4782250"/>
            <a:ext cx="80190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000" u="sng">
                <a:solidFill>
                  <a:schemeClr val="hlink"/>
                </a:solidFill>
                <a:hlinkClick r:id="rId3"/>
              </a:rPr>
              <a:t>https://web.eecs.umich.edu/~justincj/slides/eecs498/FA2020/598_FA2020_lecture02.pdf</a:t>
            </a:r>
            <a:r>
              <a:rPr lang="es" sz="1000"/>
              <a:t> </a:t>
            </a:r>
            <a:endParaRPr sz="1000"/>
          </a:p>
        </p:txBody>
      </p:sp>
      <p:pic>
        <p:nvPicPr>
          <p:cNvPr id="178" name="Google Shape;178;p35"/>
          <p:cNvPicPr preferRelativeResize="0"/>
          <p:nvPr/>
        </p:nvPicPr>
        <p:blipFill>
          <a:blip r:embed="rId4">
            <a:alphaModFix/>
          </a:blip>
          <a:stretch>
            <a:fillRect/>
          </a:stretch>
        </p:blipFill>
        <p:spPr>
          <a:xfrm>
            <a:off x="523250" y="1147313"/>
            <a:ext cx="7897798" cy="342301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6"/>
          <p:cNvSpPr txBox="1">
            <a:spLocks noGrp="1"/>
          </p:cNvSpPr>
          <p:nvPr>
            <p:ph type="title"/>
          </p:nvPr>
        </p:nvSpPr>
        <p:spPr>
          <a:xfrm>
            <a:off x="592550" y="362700"/>
            <a:ext cx="775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Arquitecturas Convolucionales para clasificación</a:t>
            </a:r>
            <a:endParaRPr i="1">
              <a:solidFill>
                <a:srgbClr val="000000"/>
              </a:solidFill>
              <a:latin typeface="Oswald"/>
              <a:ea typeface="Oswald"/>
              <a:cs typeface="Oswald"/>
              <a:sym typeface="Oswald"/>
            </a:endParaRPr>
          </a:p>
        </p:txBody>
      </p:sp>
      <p:sp>
        <p:nvSpPr>
          <p:cNvPr id="184" name="Google Shape;184;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s"/>
              <a:t>11</a:t>
            </a:fld>
            <a:endParaRPr/>
          </a:p>
        </p:txBody>
      </p:sp>
      <p:pic>
        <p:nvPicPr>
          <p:cNvPr id="185" name="Google Shape;185;p36"/>
          <p:cNvPicPr preferRelativeResize="0"/>
          <p:nvPr/>
        </p:nvPicPr>
        <p:blipFill rotWithShape="1">
          <a:blip r:embed="rId3">
            <a:alphaModFix/>
          </a:blip>
          <a:srcRect t="17115"/>
          <a:stretch/>
        </p:blipFill>
        <p:spPr>
          <a:xfrm>
            <a:off x="315638" y="1135837"/>
            <a:ext cx="8540274" cy="3326950"/>
          </a:xfrm>
          <a:prstGeom prst="rect">
            <a:avLst/>
          </a:prstGeom>
          <a:noFill/>
          <a:ln>
            <a:noFill/>
          </a:ln>
        </p:spPr>
      </p:pic>
      <p:sp>
        <p:nvSpPr>
          <p:cNvPr id="186" name="Google Shape;186;p36"/>
          <p:cNvSpPr txBox="1"/>
          <p:nvPr/>
        </p:nvSpPr>
        <p:spPr>
          <a:xfrm>
            <a:off x="576275" y="4782250"/>
            <a:ext cx="80190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000" u="sng">
                <a:solidFill>
                  <a:schemeClr val="hlink"/>
                </a:solidFill>
                <a:hlinkClick r:id="rId4"/>
              </a:rPr>
              <a:t>https://i0.wp.com/developersbreach.com/wp-content/uploads/2020/08/cnn_banner.png?fit=1200%2C564&amp;ssl=1</a:t>
            </a:r>
            <a:r>
              <a:rPr lang="es" sz="1000"/>
              <a:t> </a:t>
            </a:r>
            <a:endParaRPr sz="1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7"/>
          <p:cNvSpPr txBox="1">
            <a:spLocks noGrp="1"/>
          </p:cNvSpPr>
          <p:nvPr>
            <p:ph type="title"/>
          </p:nvPr>
        </p:nvSpPr>
        <p:spPr>
          <a:xfrm>
            <a:off x="592550" y="362700"/>
            <a:ext cx="4204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ImageNet</a:t>
            </a:r>
            <a:endParaRPr i="1">
              <a:solidFill>
                <a:srgbClr val="000000"/>
              </a:solidFill>
              <a:latin typeface="Oswald"/>
              <a:ea typeface="Oswald"/>
              <a:cs typeface="Oswald"/>
              <a:sym typeface="Oswald"/>
            </a:endParaRPr>
          </a:p>
        </p:txBody>
      </p:sp>
      <p:sp>
        <p:nvSpPr>
          <p:cNvPr id="192" name="Google Shape;192;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s"/>
              <a:t>12</a:t>
            </a:fld>
            <a:endParaRPr/>
          </a:p>
        </p:txBody>
      </p:sp>
      <p:sp>
        <p:nvSpPr>
          <p:cNvPr id="193" name="Google Shape;193;p37"/>
          <p:cNvSpPr txBox="1"/>
          <p:nvPr/>
        </p:nvSpPr>
        <p:spPr>
          <a:xfrm>
            <a:off x="636775" y="4089350"/>
            <a:ext cx="74145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a:t>ILSVRC 2014 Ranking</a:t>
            </a:r>
            <a:endParaRPr/>
          </a:p>
          <a:p>
            <a:pPr marL="0" lvl="0" indent="0" algn="l" rtl="0">
              <a:spcBef>
                <a:spcPts val="0"/>
              </a:spcBef>
              <a:spcAft>
                <a:spcPts val="0"/>
              </a:spcAft>
              <a:buClr>
                <a:schemeClr val="dk1"/>
              </a:buClr>
              <a:buSzPts val="1100"/>
              <a:buFont typeface="Arial"/>
              <a:buNone/>
            </a:pPr>
            <a:r>
              <a:rPr lang="es" u="sng">
                <a:solidFill>
                  <a:schemeClr val="hlink"/>
                </a:solidFill>
                <a:hlinkClick r:id="rId3"/>
              </a:rPr>
              <a:t>http://www.image-net.org/challenges/LSVRC/2014/results#clsloc</a:t>
            </a:r>
            <a:r>
              <a:rPr lang="es"/>
              <a:t> </a:t>
            </a:r>
            <a:endParaRPr/>
          </a:p>
          <a:p>
            <a:pPr marL="0" lvl="0" indent="0" algn="l" rtl="0">
              <a:spcBef>
                <a:spcPts val="0"/>
              </a:spcBef>
              <a:spcAft>
                <a:spcPts val="0"/>
              </a:spcAft>
              <a:buNone/>
            </a:pPr>
            <a:r>
              <a:rPr lang="es"/>
              <a:t> </a:t>
            </a:r>
            <a:endParaRPr/>
          </a:p>
        </p:txBody>
      </p:sp>
      <p:sp>
        <p:nvSpPr>
          <p:cNvPr id="194" name="Google Shape;194;p37"/>
          <p:cNvSpPr txBox="1"/>
          <p:nvPr/>
        </p:nvSpPr>
        <p:spPr>
          <a:xfrm>
            <a:off x="785325" y="1372550"/>
            <a:ext cx="7478100" cy="21240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s"/>
              <a:t>15 millones de imágenes etiquetadas (high-res)</a:t>
            </a:r>
            <a:endParaRPr/>
          </a:p>
          <a:p>
            <a:pPr marL="457200" lvl="0" indent="-317500" algn="l" rtl="0">
              <a:spcBef>
                <a:spcPts val="0"/>
              </a:spcBef>
              <a:spcAft>
                <a:spcPts val="0"/>
              </a:spcAft>
              <a:buSzPts val="1400"/>
              <a:buChar char="●"/>
            </a:pPr>
            <a:r>
              <a:rPr lang="es"/>
              <a:t>22K categorías</a:t>
            </a:r>
            <a:endParaRPr/>
          </a:p>
          <a:p>
            <a:pPr marL="457200" lvl="0" indent="-317500" algn="l" rtl="0">
              <a:spcBef>
                <a:spcPts val="0"/>
              </a:spcBef>
              <a:spcAft>
                <a:spcPts val="0"/>
              </a:spcAft>
              <a:buSzPts val="1400"/>
              <a:buChar char="●"/>
            </a:pPr>
            <a:r>
              <a:rPr lang="es"/>
              <a:t>ILSVRC (la competencia) </a:t>
            </a:r>
            <a:endParaRPr/>
          </a:p>
          <a:p>
            <a:pPr marL="914400" lvl="1" indent="-317500" algn="l" rtl="0">
              <a:spcBef>
                <a:spcPts val="0"/>
              </a:spcBef>
              <a:spcAft>
                <a:spcPts val="0"/>
              </a:spcAft>
              <a:buSzPts val="1400"/>
              <a:buChar char="○"/>
            </a:pPr>
            <a:r>
              <a:rPr lang="es"/>
              <a:t>1000 clases</a:t>
            </a:r>
            <a:endParaRPr/>
          </a:p>
          <a:p>
            <a:pPr marL="914400" lvl="1" indent="-317500" algn="l" rtl="0">
              <a:spcBef>
                <a:spcPts val="0"/>
              </a:spcBef>
              <a:spcAft>
                <a:spcPts val="0"/>
              </a:spcAft>
              <a:buSzPts val="1400"/>
              <a:buChar char="○"/>
            </a:pPr>
            <a:r>
              <a:rPr lang="es"/>
              <a:t>1000 categorías</a:t>
            </a:r>
            <a:endParaRPr/>
          </a:p>
          <a:p>
            <a:pPr marL="914400" lvl="1" indent="-317500" algn="l" rtl="0">
              <a:spcBef>
                <a:spcPts val="0"/>
              </a:spcBef>
              <a:spcAft>
                <a:spcPts val="0"/>
              </a:spcAft>
              <a:buSzPts val="1400"/>
              <a:buChar char="○"/>
            </a:pPr>
            <a:r>
              <a:rPr lang="es"/>
              <a:t>1.3M training</a:t>
            </a:r>
            <a:endParaRPr/>
          </a:p>
          <a:p>
            <a:pPr marL="914400" lvl="1" indent="-317500" algn="l" rtl="0">
              <a:spcBef>
                <a:spcPts val="0"/>
              </a:spcBef>
              <a:spcAft>
                <a:spcPts val="0"/>
              </a:spcAft>
              <a:buSzPts val="1400"/>
              <a:buChar char="○"/>
            </a:pPr>
            <a:r>
              <a:rPr lang="es"/>
              <a:t>50K validación</a:t>
            </a:r>
            <a:endParaRPr/>
          </a:p>
          <a:p>
            <a:pPr marL="914400" lvl="1" indent="-317500" algn="l" rtl="0">
              <a:spcBef>
                <a:spcPts val="0"/>
              </a:spcBef>
              <a:spcAft>
                <a:spcPts val="0"/>
              </a:spcAft>
              <a:buSzPts val="1400"/>
              <a:buChar char="○"/>
            </a:pPr>
            <a:r>
              <a:rPr lang="es"/>
              <a:t>100K test</a:t>
            </a:r>
            <a:endParaRPr/>
          </a:p>
          <a:p>
            <a:pPr marL="0" lvl="0" indent="0" algn="l" rtl="0">
              <a:spcBef>
                <a:spcPts val="0"/>
              </a:spcBef>
              <a:spcAft>
                <a:spcPts val="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8"/>
          <p:cNvSpPr txBox="1">
            <a:spLocks noGrp="1"/>
          </p:cNvSpPr>
          <p:nvPr>
            <p:ph type="title"/>
          </p:nvPr>
        </p:nvSpPr>
        <p:spPr>
          <a:xfrm>
            <a:off x="592550" y="362700"/>
            <a:ext cx="766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ILSVRC: Profundidad vs.  Error</a:t>
            </a:r>
            <a:endParaRPr i="1">
              <a:solidFill>
                <a:srgbClr val="000000"/>
              </a:solidFill>
              <a:latin typeface="Oswald"/>
              <a:ea typeface="Oswald"/>
              <a:cs typeface="Oswald"/>
              <a:sym typeface="Oswald"/>
            </a:endParaRPr>
          </a:p>
        </p:txBody>
      </p:sp>
      <p:sp>
        <p:nvSpPr>
          <p:cNvPr id="200" name="Google Shape;200;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s"/>
              <a:t>13</a:t>
            </a:fld>
            <a:endParaRPr/>
          </a:p>
        </p:txBody>
      </p:sp>
      <p:sp>
        <p:nvSpPr>
          <p:cNvPr id="201" name="Google Shape;201;p38"/>
          <p:cNvSpPr txBox="1"/>
          <p:nvPr/>
        </p:nvSpPr>
        <p:spPr>
          <a:xfrm>
            <a:off x="592550" y="4450150"/>
            <a:ext cx="81309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900"/>
              <a:t>ILSVRC Ranking</a:t>
            </a:r>
            <a:endParaRPr sz="900"/>
          </a:p>
          <a:p>
            <a:pPr marL="0" lvl="0" indent="0" algn="l" rtl="0">
              <a:spcBef>
                <a:spcPts val="0"/>
              </a:spcBef>
              <a:spcAft>
                <a:spcPts val="0"/>
              </a:spcAft>
              <a:buNone/>
            </a:pPr>
            <a:r>
              <a:rPr lang="es" sz="900" u="sng">
                <a:solidFill>
                  <a:schemeClr val="hlink"/>
                </a:solidFill>
                <a:hlinkClick r:id="rId3"/>
              </a:rPr>
              <a:t>https://www.researchgate.net/profile/Kien-Nguyen-23/publication/321896881/figure/fig1/AS:573085821489153@1513645715549/The-evolution-of-the-winning-entries-on-the-ImageNet-Large-Scale-Visual-Recognition.png</a:t>
            </a:r>
            <a:r>
              <a:rPr lang="es" sz="900"/>
              <a:t> </a:t>
            </a:r>
            <a:endParaRPr sz="900"/>
          </a:p>
          <a:p>
            <a:pPr marL="0" lvl="0" indent="0" algn="l" rtl="0">
              <a:spcBef>
                <a:spcPts val="0"/>
              </a:spcBef>
              <a:spcAft>
                <a:spcPts val="0"/>
              </a:spcAft>
              <a:buNone/>
            </a:pPr>
            <a:r>
              <a:rPr lang="es" sz="900"/>
              <a:t> </a:t>
            </a:r>
            <a:endParaRPr sz="900"/>
          </a:p>
        </p:txBody>
      </p:sp>
      <p:pic>
        <p:nvPicPr>
          <p:cNvPr id="202" name="Google Shape;202;p38"/>
          <p:cNvPicPr preferRelativeResize="0"/>
          <p:nvPr/>
        </p:nvPicPr>
        <p:blipFill>
          <a:blip r:embed="rId4">
            <a:alphaModFix/>
          </a:blip>
          <a:stretch>
            <a:fillRect/>
          </a:stretch>
        </p:blipFill>
        <p:spPr>
          <a:xfrm>
            <a:off x="1345350" y="935400"/>
            <a:ext cx="6453300" cy="3492375"/>
          </a:xfrm>
          <a:prstGeom prst="rect">
            <a:avLst/>
          </a:prstGeom>
          <a:noFill/>
          <a:ln>
            <a:noFill/>
          </a:ln>
        </p:spPr>
      </p:pic>
      <p:sp>
        <p:nvSpPr>
          <p:cNvPr id="203" name="Google Shape;203;p38"/>
          <p:cNvSpPr/>
          <p:nvPr/>
        </p:nvSpPr>
        <p:spPr>
          <a:xfrm>
            <a:off x="3403050" y="2447950"/>
            <a:ext cx="955200" cy="2009400"/>
          </a:xfrm>
          <a:prstGeom prst="rect">
            <a:avLst/>
          </a:prstGeom>
          <a:noFill/>
          <a:ln w="28575" cap="flat"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38"/>
          <p:cNvSpPr/>
          <p:nvPr/>
        </p:nvSpPr>
        <p:spPr>
          <a:xfrm>
            <a:off x="5168550" y="1867800"/>
            <a:ext cx="955200" cy="2559900"/>
          </a:xfrm>
          <a:prstGeom prst="rect">
            <a:avLst/>
          </a:prstGeom>
          <a:noFill/>
          <a:ln w="28575" cap="flat"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9"/>
          <p:cNvSpPr txBox="1">
            <a:spLocks noGrp="1"/>
          </p:cNvSpPr>
          <p:nvPr>
            <p:ph type="title"/>
          </p:nvPr>
        </p:nvSpPr>
        <p:spPr>
          <a:xfrm>
            <a:off x="592550" y="362700"/>
            <a:ext cx="766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Redes y Cantidad de Operaciones</a:t>
            </a:r>
            <a:endParaRPr i="1">
              <a:solidFill>
                <a:srgbClr val="000000"/>
              </a:solidFill>
              <a:latin typeface="Oswald"/>
              <a:ea typeface="Oswald"/>
              <a:cs typeface="Oswald"/>
              <a:sym typeface="Oswald"/>
            </a:endParaRPr>
          </a:p>
        </p:txBody>
      </p:sp>
      <p:sp>
        <p:nvSpPr>
          <p:cNvPr id="210" name="Google Shape;210;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s"/>
              <a:t>14</a:t>
            </a:fld>
            <a:endParaRPr/>
          </a:p>
        </p:txBody>
      </p:sp>
      <p:sp>
        <p:nvSpPr>
          <p:cNvPr id="211" name="Google Shape;211;p39"/>
          <p:cNvSpPr txBox="1"/>
          <p:nvPr/>
        </p:nvSpPr>
        <p:spPr>
          <a:xfrm>
            <a:off x="592550" y="4536175"/>
            <a:ext cx="81309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900"/>
              <a:t> </a:t>
            </a:r>
            <a:endParaRPr sz="900"/>
          </a:p>
        </p:txBody>
      </p:sp>
      <p:pic>
        <p:nvPicPr>
          <p:cNvPr id="212" name="Google Shape;212;p39"/>
          <p:cNvPicPr preferRelativeResize="0"/>
          <p:nvPr/>
        </p:nvPicPr>
        <p:blipFill>
          <a:blip r:embed="rId3">
            <a:alphaModFix/>
          </a:blip>
          <a:stretch>
            <a:fillRect/>
          </a:stretch>
        </p:blipFill>
        <p:spPr>
          <a:xfrm>
            <a:off x="1805350" y="935388"/>
            <a:ext cx="5120405" cy="3423363"/>
          </a:xfrm>
          <a:prstGeom prst="rect">
            <a:avLst/>
          </a:prstGeom>
          <a:noFill/>
          <a:ln>
            <a:noFill/>
          </a:ln>
        </p:spPr>
      </p:pic>
      <p:sp>
        <p:nvSpPr>
          <p:cNvPr id="213" name="Google Shape;213;p39"/>
          <p:cNvSpPr txBox="1"/>
          <p:nvPr/>
        </p:nvSpPr>
        <p:spPr>
          <a:xfrm>
            <a:off x="287750" y="4502725"/>
            <a:ext cx="82743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900" u="sng">
                <a:solidFill>
                  <a:schemeClr val="accent5"/>
                </a:solidFill>
                <a:hlinkClick r:id="rId4">
                  <a:extLst>
                    <a:ext uri="{A12FA001-AC4F-418D-AE19-62706E023703}">
                      <ahyp:hlinkClr xmlns:ahyp="http://schemas.microsoft.com/office/drawing/2018/hyperlinkcolor" val="tx"/>
                    </a:ext>
                  </a:extLst>
                </a:hlinkClick>
              </a:rPr>
              <a:t>https://culurciello.medium.com/analysis-of-deep-neural-networks-dcf398e71aae</a:t>
            </a:r>
            <a:r>
              <a:rPr lang="es" sz="900">
                <a:solidFill>
                  <a:schemeClr val="dk1"/>
                </a:solidFill>
              </a:rPr>
              <a:t> </a:t>
            </a:r>
            <a:r>
              <a:rPr lang="es" sz="750">
                <a:solidFill>
                  <a:srgbClr val="757575"/>
                </a:solidFill>
                <a:highlight>
                  <a:srgbClr val="FFFFFF"/>
                </a:highlight>
              </a:rPr>
              <a:t> updated Figure 2: Top1 vs. operations, size ∝ parameters. Top-1 one-crop accuracy versus amount of operations required for a single forward pass. The size of the blobs is proportional to the number of network parameters; a legend is reported in the bottom right corner, spanning from 5×10^6 to 155×10^6 params. Both these figures share the same y-axis, and the grey dots highlight the centre of the blobs.</a:t>
            </a:r>
            <a:endParaRPr sz="1100"/>
          </a:p>
        </p:txBody>
      </p:sp>
      <p:sp>
        <p:nvSpPr>
          <p:cNvPr id="214" name="Google Shape;214;p39"/>
          <p:cNvSpPr txBox="1"/>
          <p:nvPr/>
        </p:nvSpPr>
        <p:spPr>
          <a:xfrm>
            <a:off x="7465825" y="3268450"/>
            <a:ext cx="1488000" cy="1154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900">
                <a:solidFill>
                  <a:srgbClr val="222222"/>
                </a:solidFill>
                <a:highlight>
                  <a:srgbClr val="FFFFFF"/>
                </a:highlight>
              </a:rPr>
              <a:t>Canziani, A., Paszke, A., &amp; Culurciello, E. (2016). An analysis of deep neural network models for practical applications. </a:t>
            </a:r>
            <a:r>
              <a:rPr lang="es" sz="900" i="1">
                <a:solidFill>
                  <a:srgbClr val="222222"/>
                </a:solidFill>
                <a:highlight>
                  <a:srgbClr val="FFFFFF"/>
                </a:highlight>
              </a:rPr>
              <a:t>arXiv preprint arXiv:1605.07678</a:t>
            </a:r>
            <a:r>
              <a:rPr lang="es" sz="900">
                <a:solidFill>
                  <a:srgbClr val="222222"/>
                </a:solidFill>
                <a:highlight>
                  <a:srgbClr val="FFFFFF"/>
                </a:highlight>
              </a:rPr>
              <a:t>.</a:t>
            </a:r>
            <a:endParaRPr sz="13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40"/>
          <p:cNvSpPr txBox="1">
            <a:spLocks noGrp="1"/>
          </p:cNvSpPr>
          <p:nvPr>
            <p:ph type="title"/>
          </p:nvPr>
        </p:nvSpPr>
        <p:spPr>
          <a:xfrm>
            <a:off x="592550" y="362700"/>
            <a:ext cx="766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Redes y Cantidad de Operaciones</a:t>
            </a:r>
            <a:endParaRPr i="1">
              <a:solidFill>
                <a:srgbClr val="000000"/>
              </a:solidFill>
              <a:latin typeface="Oswald"/>
              <a:ea typeface="Oswald"/>
              <a:cs typeface="Oswald"/>
              <a:sym typeface="Oswald"/>
            </a:endParaRPr>
          </a:p>
        </p:txBody>
      </p:sp>
      <p:sp>
        <p:nvSpPr>
          <p:cNvPr id="220" name="Google Shape;220;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s"/>
              <a:t>15</a:t>
            </a:fld>
            <a:endParaRPr/>
          </a:p>
        </p:txBody>
      </p:sp>
      <p:sp>
        <p:nvSpPr>
          <p:cNvPr id="221" name="Google Shape;221;p40"/>
          <p:cNvSpPr txBox="1"/>
          <p:nvPr/>
        </p:nvSpPr>
        <p:spPr>
          <a:xfrm>
            <a:off x="592550" y="4536175"/>
            <a:ext cx="81309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900"/>
              <a:t> </a:t>
            </a:r>
            <a:endParaRPr sz="900"/>
          </a:p>
        </p:txBody>
      </p:sp>
      <p:sp>
        <p:nvSpPr>
          <p:cNvPr id="222" name="Google Shape;222;p40"/>
          <p:cNvSpPr txBox="1"/>
          <p:nvPr/>
        </p:nvSpPr>
        <p:spPr>
          <a:xfrm>
            <a:off x="287750" y="4502725"/>
            <a:ext cx="8274300" cy="669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900" u="sng">
                <a:solidFill>
                  <a:schemeClr val="accent5"/>
                </a:solidFill>
                <a:hlinkClick r:id="rId3">
                  <a:extLst>
                    <a:ext uri="{A12FA001-AC4F-418D-AE19-62706E023703}">
                      <ahyp:hlinkClr xmlns:ahyp="http://schemas.microsoft.com/office/drawing/2018/hyperlinkcolor" val="tx"/>
                    </a:ext>
                  </a:extLst>
                </a:hlinkClick>
              </a:rPr>
              <a:t>https://culurciello.medium.com/analysis-of-deep-neural-networks-dcf398e71aae</a:t>
            </a:r>
            <a:r>
              <a:rPr lang="es" sz="900">
                <a:solidFill>
                  <a:schemeClr val="dk1"/>
                </a:solidFill>
              </a:rPr>
              <a:t> </a:t>
            </a:r>
            <a:r>
              <a:rPr lang="es" sz="750">
                <a:solidFill>
                  <a:srgbClr val="757575"/>
                </a:solidFill>
                <a:highlight>
                  <a:srgbClr val="FFFFFF"/>
                </a:highlight>
              </a:rPr>
              <a:t> updated Figure 10: Accuracy per parameter vs. network. Information density (accuracy per parameters) is an efficiency metric that highlight that capacity of a specific architecture to better utilise its parametric space. Models like VGG and AlexNet are clearly oversized, and do not take fully advantage of their potential learning ability. On the far right, ResNet-18, BN-NIN, GoogLeNet and ENet (marked by grey arrows) do a better job at “squeezing” all their neurons to learn the given task, and are the winners of this section.</a:t>
            </a:r>
            <a:endParaRPr sz="1100"/>
          </a:p>
        </p:txBody>
      </p:sp>
      <p:sp>
        <p:nvSpPr>
          <p:cNvPr id="223" name="Google Shape;223;p40"/>
          <p:cNvSpPr txBox="1"/>
          <p:nvPr/>
        </p:nvSpPr>
        <p:spPr>
          <a:xfrm>
            <a:off x="7465825" y="3268450"/>
            <a:ext cx="1488000" cy="1154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900">
                <a:solidFill>
                  <a:srgbClr val="222222"/>
                </a:solidFill>
                <a:highlight>
                  <a:srgbClr val="FFFFFF"/>
                </a:highlight>
              </a:rPr>
              <a:t>Canziani, A., Paszke, A., &amp; Culurciello, E. (2016). An analysis of deep neural network models for practical applications. </a:t>
            </a:r>
            <a:r>
              <a:rPr lang="es" sz="900" i="1">
                <a:solidFill>
                  <a:srgbClr val="222222"/>
                </a:solidFill>
                <a:highlight>
                  <a:srgbClr val="FFFFFF"/>
                </a:highlight>
              </a:rPr>
              <a:t>arXiv preprint arXiv:1605.07678</a:t>
            </a:r>
            <a:r>
              <a:rPr lang="es" sz="900">
                <a:solidFill>
                  <a:srgbClr val="222222"/>
                </a:solidFill>
                <a:highlight>
                  <a:srgbClr val="FFFFFF"/>
                </a:highlight>
              </a:rPr>
              <a:t>.</a:t>
            </a:r>
            <a:endParaRPr sz="1300"/>
          </a:p>
        </p:txBody>
      </p:sp>
      <p:pic>
        <p:nvPicPr>
          <p:cNvPr id="224" name="Google Shape;224;p40"/>
          <p:cNvPicPr preferRelativeResize="0"/>
          <p:nvPr/>
        </p:nvPicPr>
        <p:blipFill>
          <a:blip r:embed="rId4">
            <a:alphaModFix/>
          </a:blip>
          <a:stretch>
            <a:fillRect/>
          </a:stretch>
        </p:blipFill>
        <p:spPr>
          <a:xfrm>
            <a:off x="393225" y="1087800"/>
            <a:ext cx="6952812" cy="32625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41"/>
          <p:cNvSpPr txBox="1">
            <a:spLocks noGrp="1"/>
          </p:cNvSpPr>
          <p:nvPr>
            <p:ph type="title"/>
          </p:nvPr>
        </p:nvSpPr>
        <p:spPr>
          <a:xfrm>
            <a:off x="592550" y="362700"/>
            <a:ext cx="766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Redes y Cantidad de Operaciones</a:t>
            </a:r>
            <a:endParaRPr i="1">
              <a:solidFill>
                <a:srgbClr val="000000"/>
              </a:solidFill>
              <a:latin typeface="Oswald"/>
              <a:ea typeface="Oswald"/>
              <a:cs typeface="Oswald"/>
              <a:sym typeface="Oswald"/>
            </a:endParaRPr>
          </a:p>
        </p:txBody>
      </p:sp>
      <p:sp>
        <p:nvSpPr>
          <p:cNvPr id="230" name="Google Shape;230;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s"/>
              <a:t>16</a:t>
            </a:fld>
            <a:endParaRPr/>
          </a:p>
        </p:txBody>
      </p:sp>
      <p:sp>
        <p:nvSpPr>
          <p:cNvPr id="231" name="Google Shape;231;p41"/>
          <p:cNvSpPr txBox="1"/>
          <p:nvPr/>
        </p:nvSpPr>
        <p:spPr>
          <a:xfrm>
            <a:off x="592550" y="4536175"/>
            <a:ext cx="81309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900"/>
              <a:t> </a:t>
            </a:r>
            <a:endParaRPr sz="900"/>
          </a:p>
        </p:txBody>
      </p:sp>
      <p:sp>
        <p:nvSpPr>
          <p:cNvPr id="232" name="Google Shape;232;p41"/>
          <p:cNvSpPr txBox="1"/>
          <p:nvPr/>
        </p:nvSpPr>
        <p:spPr>
          <a:xfrm>
            <a:off x="287750" y="4502725"/>
            <a:ext cx="82743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900" u="sng">
                <a:solidFill>
                  <a:schemeClr val="accent5"/>
                </a:solidFill>
                <a:hlinkClick r:id="rId3">
                  <a:extLst>
                    <a:ext uri="{A12FA001-AC4F-418D-AE19-62706E023703}">
                      <ahyp:hlinkClr xmlns:ahyp="http://schemas.microsoft.com/office/drawing/2018/hyperlinkcolor" val="tx"/>
                    </a:ext>
                  </a:extLst>
                </a:hlinkClick>
              </a:rPr>
              <a:t>https://culurciello.medium.com/analysis-of-deep-neural-networks-dcf398e71aae</a:t>
            </a:r>
            <a:r>
              <a:rPr lang="es" sz="900">
                <a:solidFill>
                  <a:schemeClr val="dk1"/>
                </a:solidFill>
              </a:rPr>
              <a:t> </a:t>
            </a:r>
            <a:r>
              <a:rPr lang="es" sz="750">
                <a:solidFill>
                  <a:srgbClr val="757575"/>
                </a:solidFill>
                <a:highlight>
                  <a:srgbClr val="FFFFFF"/>
                </a:highlight>
              </a:rPr>
              <a:t> updated Figure 1: Top1 vs. network. Single-crop top-1 validation accuracies for top scoring single-model architectures. We introduce with this chart our choice of colour scheme, which will be used throughout this publication to distinguish effectively different architectures and their correspondent authors. Notice that networks of the same group share the same hue, for example ResNet are all variations of pink.</a:t>
            </a:r>
            <a:endParaRPr sz="1100"/>
          </a:p>
        </p:txBody>
      </p:sp>
      <p:sp>
        <p:nvSpPr>
          <p:cNvPr id="233" name="Google Shape;233;p41"/>
          <p:cNvSpPr txBox="1"/>
          <p:nvPr/>
        </p:nvSpPr>
        <p:spPr>
          <a:xfrm>
            <a:off x="7465825" y="3268450"/>
            <a:ext cx="1488000" cy="1154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900">
                <a:solidFill>
                  <a:srgbClr val="222222"/>
                </a:solidFill>
                <a:highlight>
                  <a:srgbClr val="FFFFFF"/>
                </a:highlight>
              </a:rPr>
              <a:t>Canziani, A., Paszke, A., &amp; Culurciello, E. (2016). An analysis of deep neural network models for practical applications. </a:t>
            </a:r>
            <a:r>
              <a:rPr lang="es" sz="900" i="1">
                <a:solidFill>
                  <a:srgbClr val="222222"/>
                </a:solidFill>
                <a:highlight>
                  <a:srgbClr val="FFFFFF"/>
                </a:highlight>
              </a:rPr>
              <a:t>arXiv preprint arXiv:1605.07678</a:t>
            </a:r>
            <a:r>
              <a:rPr lang="es" sz="900">
                <a:solidFill>
                  <a:srgbClr val="222222"/>
                </a:solidFill>
                <a:highlight>
                  <a:srgbClr val="FFFFFF"/>
                </a:highlight>
              </a:rPr>
              <a:t>.</a:t>
            </a:r>
            <a:endParaRPr sz="1300"/>
          </a:p>
        </p:txBody>
      </p:sp>
      <p:pic>
        <p:nvPicPr>
          <p:cNvPr id="234" name="Google Shape;234;p41"/>
          <p:cNvPicPr preferRelativeResize="0"/>
          <p:nvPr/>
        </p:nvPicPr>
        <p:blipFill>
          <a:blip r:embed="rId4">
            <a:alphaModFix/>
          </a:blip>
          <a:stretch>
            <a:fillRect/>
          </a:stretch>
        </p:blipFill>
        <p:spPr>
          <a:xfrm>
            <a:off x="1244750" y="1087800"/>
            <a:ext cx="4964712" cy="32625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42"/>
          <p:cNvSpPr txBox="1">
            <a:spLocks noGrp="1"/>
          </p:cNvSpPr>
          <p:nvPr>
            <p:ph type="title"/>
          </p:nvPr>
        </p:nvSpPr>
        <p:spPr>
          <a:xfrm>
            <a:off x="592550" y="362700"/>
            <a:ext cx="766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Redes y Cantidad de Operaciones</a:t>
            </a:r>
            <a:endParaRPr i="1">
              <a:solidFill>
                <a:srgbClr val="000000"/>
              </a:solidFill>
              <a:latin typeface="Oswald"/>
              <a:ea typeface="Oswald"/>
              <a:cs typeface="Oswald"/>
              <a:sym typeface="Oswald"/>
            </a:endParaRPr>
          </a:p>
        </p:txBody>
      </p:sp>
      <p:sp>
        <p:nvSpPr>
          <p:cNvPr id="240" name="Google Shape;240;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s"/>
              <a:t>17</a:t>
            </a:fld>
            <a:endParaRPr/>
          </a:p>
        </p:txBody>
      </p:sp>
      <p:sp>
        <p:nvSpPr>
          <p:cNvPr id="241" name="Google Shape;241;p42"/>
          <p:cNvSpPr txBox="1"/>
          <p:nvPr/>
        </p:nvSpPr>
        <p:spPr>
          <a:xfrm>
            <a:off x="592550" y="4536175"/>
            <a:ext cx="81309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900"/>
              <a:t> </a:t>
            </a:r>
            <a:endParaRPr sz="900"/>
          </a:p>
        </p:txBody>
      </p:sp>
      <p:sp>
        <p:nvSpPr>
          <p:cNvPr id="242" name="Google Shape;242;p42"/>
          <p:cNvSpPr txBox="1"/>
          <p:nvPr/>
        </p:nvSpPr>
        <p:spPr>
          <a:xfrm>
            <a:off x="7465825" y="3268450"/>
            <a:ext cx="1488000" cy="1154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900">
                <a:solidFill>
                  <a:srgbClr val="222222"/>
                </a:solidFill>
                <a:highlight>
                  <a:srgbClr val="FFFFFF"/>
                </a:highlight>
              </a:rPr>
              <a:t>Canziani, A., Paszke, A., &amp; Culurciello, E. (2016). An analysis of deep neural network models for practical applications. </a:t>
            </a:r>
            <a:r>
              <a:rPr lang="es" sz="900" i="1">
                <a:solidFill>
                  <a:srgbClr val="222222"/>
                </a:solidFill>
                <a:highlight>
                  <a:srgbClr val="FFFFFF"/>
                </a:highlight>
              </a:rPr>
              <a:t>arXiv preprint arXiv:1605.07678</a:t>
            </a:r>
            <a:r>
              <a:rPr lang="es" sz="900">
                <a:solidFill>
                  <a:srgbClr val="222222"/>
                </a:solidFill>
                <a:highlight>
                  <a:srgbClr val="FFFFFF"/>
                </a:highlight>
              </a:rPr>
              <a:t>.</a:t>
            </a:r>
            <a:endParaRPr sz="1300"/>
          </a:p>
        </p:txBody>
      </p:sp>
      <p:pic>
        <p:nvPicPr>
          <p:cNvPr id="243" name="Google Shape;243;p42"/>
          <p:cNvPicPr preferRelativeResize="0"/>
          <p:nvPr/>
        </p:nvPicPr>
        <p:blipFill rotWithShape="1">
          <a:blip r:embed="rId3">
            <a:alphaModFix/>
          </a:blip>
          <a:srcRect r="48963"/>
          <a:stretch/>
        </p:blipFill>
        <p:spPr>
          <a:xfrm>
            <a:off x="2294125" y="1041425"/>
            <a:ext cx="3626820" cy="393865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43"/>
          <p:cNvSpPr txBox="1">
            <a:spLocks noGrp="1"/>
          </p:cNvSpPr>
          <p:nvPr>
            <p:ph type="title"/>
          </p:nvPr>
        </p:nvSpPr>
        <p:spPr>
          <a:xfrm>
            <a:off x="592550" y="362700"/>
            <a:ext cx="766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Redes y Cantidad de Operaciones</a:t>
            </a:r>
            <a:endParaRPr i="1">
              <a:solidFill>
                <a:srgbClr val="000000"/>
              </a:solidFill>
              <a:latin typeface="Oswald"/>
              <a:ea typeface="Oswald"/>
              <a:cs typeface="Oswald"/>
              <a:sym typeface="Oswald"/>
            </a:endParaRPr>
          </a:p>
        </p:txBody>
      </p:sp>
      <p:sp>
        <p:nvSpPr>
          <p:cNvPr id="249" name="Google Shape;249;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s"/>
              <a:t>18</a:t>
            </a:fld>
            <a:endParaRPr/>
          </a:p>
        </p:txBody>
      </p:sp>
      <p:sp>
        <p:nvSpPr>
          <p:cNvPr id="250" name="Google Shape;250;p43"/>
          <p:cNvSpPr txBox="1"/>
          <p:nvPr/>
        </p:nvSpPr>
        <p:spPr>
          <a:xfrm>
            <a:off x="592550" y="4536175"/>
            <a:ext cx="81309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900"/>
              <a:t> </a:t>
            </a:r>
            <a:endParaRPr sz="900"/>
          </a:p>
        </p:txBody>
      </p:sp>
      <p:sp>
        <p:nvSpPr>
          <p:cNvPr id="251" name="Google Shape;251;p43"/>
          <p:cNvSpPr txBox="1"/>
          <p:nvPr/>
        </p:nvSpPr>
        <p:spPr>
          <a:xfrm>
            <a:off x="7465825" y="3268450"/>
            <a:ext cx="1488000" cy="1154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900">
                <a:solidFill>
                  <a:srgbClr val="222222"/>
                </a:solidFill>
                <a:highlight>
                  <a:srgbClr val="FFFFFF"/>
                </a:highlight>
              </a:rPr>
              <a:t>Canziani, A., Paszke, A., &amp; Culurciello, E. (2016). An analysis of deep neural network models for practical applications. </a:t>
            </a:r>
            <a:r>
              <a:rPr lang="es" sz="900" i="1">
                <a:solidFill>
                  <a:srgbClr val="222222"/>
                </a:solidFill>
                <a:highlight>
                  <a:srgbClr val="FFFFFF"/>
                </a:highlight>
              </a:rPr>
              <a:t>arXiv preprint arXiv:1605.07678</a:t>
            </a:r>
            <a:r>
              <a:rPr lang="es" sz="900">
                <a:solidFill>
                  <a:srgbClr val="222222"/>
                </a:solidFill>
                <a:highlight>
                  <a:srgbClr val="FFFFFF"/>
                </a:highlight>
              </a:rPr>
              <a:t>.</a:t>
            </a:r>
            <a:endParaRPr sz="1300"/>
          </a:p>
        </p:txBody>
      </p:sp>
      <p:pic>
        <p:nvPicPr>
          <p:cNvPr id="252" name="Google Shape;252;p43"/>
          <p:cNvPicPr preferRelativeResize="0"/>
          <p:nvPr/>
        </p:nvPicPr>
        <p:blipFill>
          <a:blip r:embed="rId3">
            <a:alphaModFix/>
          </a:blip>
          <a:stretch>
            <a:fillRect/>
          </a:stretch>
        </p:blipFill>
        <p:spPr>
          <a:xfrm>
            <a:off x="427650" y="1240200"/>
            <a:ext cx="6701036" cy="32959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44"/>
          <p:cNvSpPr txBox="1">
            <a:spLocks noGrp="1"/>
          </p:cNvSpPr>
          <p:nvPr>
            <p:ph type="title"/>
          </p:nvPr>
        </p:nvSpPr>
        <p:spPr>
          <a:xfrm>
            <a:off x="592550" y="362700"/>
            <a:ext cx="4204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AlexNet</a:t>
            </a:r>
            <a:endParaRPr i="1">
              <a:solidFill>
                <a:srgbClr val="000000"/>
              </a:solidFill>
              <a:latin typeface="Oswald"/>
              <a:ea typeface="Oswald"/>
              <a:cs typeface="Oswald"/>
              <a:sym typeface="Oswald"/>
            </a:endParaRPr>
          </a:p>
        </p:txBody>
      </p:sp>
      <p:sp>
        <p:nvSpPr>
          <p:cNvPr id="258" name="Google Shape;258;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s"/>
              <a:t>19</a:t>
            </a:fld>
            <a:endParaRPr/>
          </a:p>
        </p:txBody>
      </p:sp>
      <p:pic>
        <p:nvPicPr>
          <p:cNvPr id="259" name="Google Shape;259;p44"/>
          <p:cNvPicPr preferRelativeResize="0"/>
          <p:nvPr/>
        </p:nvPicPr>
        <p:blipFill>
          <a:blip r:embed="rId3">
            <a:alphaModFix/>
          </a:blip>
          <a:stretch>
            <a:fillRect/>
          </a:stretch>
        </p:blipFill>
        <p:spPr>
          <a:xfrm>
            <a:off x="592550" y="1052425"/>
            <a:ext cx="8096250" cy="3248025"/>
          </a:xfrm>
          <a:prstGeom prst="rect">
            <a:avLst/>
          </a:prstGeom>
          <a:noFill/>
          <a:ln>
            <a:noFill/>
          </a:ln>
        </p:spPr>
      </p:pic>
      <p:sp>
        <p:nvSpPr>
          <p:cNvPr id="260" name="Google Shape;260;p44"/>
          <p:cNvSpPr txBox="1"/>
          <p:nvPr/>
        </p:nvSpPr>
        <p:spPr>
          <a:xfrm>
            <a:off x="4520900" y="4372325"/>
            <a:ext cx="4061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800" u="sng">
                <a:solidFill>
                  <a:schemeClr val="hlink"/>
                </a:solidFill>
                <a:hlinkClick r:id="rId4"/>
              </a:rPr>
              <a:t>https://www.researchgate.net/publication/320052364_Classification_of_Architectural_Heritage_Images_Using_Deep_Learning_Techniques/figures?lo=1</a:t>
            </a:r>
            <a:r>
              <a:rPr lang="es" sz="800"/>
              <a:t> </a:t>
            </a:r>
            <a:endParaRPr sz="8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45"/>
          <p:cNvSpPr txBox="1">
            <a:spLocks noGrp="1"/>
          </p:cNvSpPr>
          <p:nvPr>
            <p:ph type="title"/>
          </p:nvPr>
        </p:nvSpPr>
        <p:spPr>
          <a:xfrm>
            <a:off x="592550" y="362700"/>
            <a:ext cx="4204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VGG-16 y VGG-19 (2015)</a:t>
            </a:r>
            <a:endParaRPr i="1">
              <a:solidFill>
                <a:srgbClr val="000000"/>
              </a:solidFill>
              <a:latin typeface="Oswald"/>
              <a:ea typeface="Oswald"/>
              <a:cs typeface="Oswald"/>
              <a:sym typeface="Oswald"/>
            </a:endParaRPr>
          </a:p>
        </p:txBody>
      </p:sp>
      <p:sp>
        <p:nvSpPr>
          <p:cNvPr id="266" name="Google Shape;266;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s"/>
              <a:t>20</a:t>
            </a:fld>
            <a:endParaRPr/>
          </a:p>
        </p:txBody>
      </p:sp>
      <p:sp>
        <p:nvSpPr>
          <p:cNvPr id="267" name="Google Shape;267;p45"/>
          <p:cNvSpPr txBox="1"/>
          <p:nvPr/>
        </p:nvSpPr>
        <p:spPr>
          <a:xfrm>
            <a:off x="785325" y="1372550"/>
            <a:ext cx="7478100" cy="10467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s"/>
              <a:t>Solo convoluciones 3x3</a:t>
            </a:r>
            <a:endParaRPr/>
          </a:p>
          <a:p>
            <a:pPr marL="457200" lvl="0" indent="-317500" algn="l" rtl="0">
              <a:spcBef>
                <a:spcPts val="0"/>
              </a:spcBef>
              <a:spcAft>
                <a:spcPts val="0"/>
              </a:spcAft>
              <a:buSzPts val="1400"/>
              <a:buChar char="●"/>
            </a:pPr>
            <a:r>
              <a:rPr lang="es"/>
              <a:t>Mayor profundidad</a:t>
            </a:r>
            <a:endParaRPr/>
          </a:p>
          <a:p>
            <a:pPr marL="457200" lvl="0" indent="-317500" algn="l" rtl="0">
              <a:spcBef>
                <a:spcPts val="0"/>
              </a:spcBef>
              <a:spcAft>
                <a:spcPts val="0"/>
              </a:spcAft>
              <a:buSzPts val="1400"/>
              <a:buChar char="●"/>
            </a:pPr>
            <a:r>
              <a:rPr lang="es"/>
              <a:t>Input: 224x224</a:t>
            </a:r>
            <a:endParaRPr/>
          </a:p>
          <a:p>
            <a:pPr marL="0" lvl="0" indent="0" algn="l" rtl="0">
              <a:spcBef>
                <a:spcPts val="0"/>
              </a:spcBef>
              <a:spcAft>
                <a:spcPts val="0"/>
              </a:spcAft>
              <a:buNone/>
            </a:pPr>
            <a:endParaRPr/>
          </a:p>
        </p:txBody>
      </p:sp>
      <p:sp>
        <p:nvSpPr>
          <p:cNvPr id="268" name="Google Shape;268;p45"/>
          <p:cNvSpPr txBox="1"/>
          <p:nvPr/>
        </p:nvSpPr>
        <p:spPr>
          <a:xfrm>
            <a:off x="6204750" y="3763875"/>
            <a:ext cx="26601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000">
                <a:solidFill>
                  <a:srgbClr val="222222"/>
                </a:solidFill>
                <a:highlight>
                  <a:srgbClr val="FFFFFF"/>
                </a:highlight>
              </a:rPr>
              <a:t>Simonyan, K., &amp; Zisserman, A. (2014). Very deep convolutional networks for large-scale image recognition. </a:t>
            </a:r>
            <a:r>
              <a:rPr lang="es" sz="1000" i="1">
                <a:solidFill>
                  <a:srgbClr val="222222"/>
                </a:solidFill>
                <a:highlight>
                  <a:srgbClr val="FFFFFF"/>
                </a:highlight>
              </a:rPr>
              <a:t>arXiv preprint arXiv:1409.1556</a:t>
            </a:r>
            <a:r>
              <a:rPr lang="es" sz="1000">
                <a:solidFill>
                  <a:srgbClr val="222222"/>
                </a:solidFill>
                <a:highlight>
                  <a:srgbClr val="FFFFFF"/>
                </a:highlight>
              </a:rPr>
              <a: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46"/>
          <p:cNvSpPr txBox="1">
            <a:spLocks noGrp="1"/>
          </p:cNvSpPr>
          <p:nvPr>
            <p:ph type="title"/>
          </p:nvPr>
        </p:nvSpPr>
        <p:spPr>
          <a:xfrm>
            <a:off x="592550" y="362700"/>
            <a:ext cx="4204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VGG-19</a:t>
            </a:r>
            <a:endParaRPr i="1">
              <a:solidFill>
                <a:srgbClr val="000000"/>
              </a:solidFill>
              <a:latin typeface="Oswald"/>
              <a:ea typeface="Oswald"/>
              <a:cs typeface="Oswald"/>
              <a:sym typeface="Oswald"/>
            </a:endParaRPr>
          </a:p>
        </p:txBody>
      </p:sp>
      <p:sp>
        <p:nvSpPr>
          <p:cNvPr id="274" name="Google Shape;274;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s"/>
              <a:t>21</a:t>
            </a:fld>
            <a:endParaRPr/>
          </a:p>
        </p:txBody>
      </p:sp>
      <p:pic>
        <p:nvPicPr>
          <p:cNvPr id="275" name="Google Shape;275;p46"/>
          <p:cNvPicPr preferRelativeResize="0"/>
          <p:nvPr/>
        </p:nvPicPr>
        <p:blipFill>
          <a:blip r:embed="rId3">
            <a:alphaModFix/>
          </a:blip>
          <a:stretch>
            <a:fillRect/>
          </a:stretch>
        </p:blipFill>
        <p:spPr>
          <a:xfrm>
            <a:off x="152400" y="1575725"/>
            <a:ext cx="8839204" cy="2447182"/>
          </a:xfrm>
          <a:prstGeom prst="rect">
            <a:avLst/>
          </a:prstGeom>
          <a:noFill/>
          <a:ln>
            <a:noFill/>
          </a:ln>
        </p:spPr>
      </p:pic>
      <p:sp>
        <p:nvSpPr>
          <p:cNvPr id="276" name="Google Shape;276;p46"/>
          <p:cNvSpPr txBox="1"/>
          <p:nvPr/>
        </p:nvSpPr>
        <p:spPr>
          <a:xfrm>
            <a:off x="3268625" y="4537850"/>
            <a:ext cx="5596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u="sng">
                <a:solidFill>
                  <a:schemeClr val="hlink"/>
                </a:solidFill>
                <a:hlinkClick r:id="rId4"/>
              </a:rPr>
              <a:t>https://www.quora.com/What-is-the-VGG-neural-network</a:t>
            </a:r>
            <a:r>
              <a:rPr lang="es"/>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pic>
        <p:nvPicPr>
          <p:cNvPr id="281" name="Google Shape;281;p47"/>
          <p:cNvPicPr preferRelativeResize="0"/>
          <p:nvPr/>
        </p:nvPicPr>
        <p:blipFill>
          <a:blip r:embed="rId3">
            <a:alphaModFix/>
          </a:blip>
          <a:stretch>
            <a:fillRect/>
          </a:stretch>
        </p:blipFill>
        <p:spPr>
          <a:xfrm>
            <a:off x="2419300" y="0"/>
            <a:ext cx="6724699" cy="5143500"/>
          </a:xfrm>
          <a:prstGeom prst="rect">
            <a:avLst/>
          </a:prstGeom>
          <a:noFill/>
          <a:ln>
            <a:noFill/>
          </a:ln>
        </p:spPr>
      </p:pic>
      <p:sp>
        <p:nvSpPr>
          <p:cNvPr id="282" name="Google Shape;282;p47"/>
          <p:cNvSpPr txBox="1">
            <a:spLocks noGrp="1"/>
          </p:cNvSpPr>
          <p:nvPr>
            <p:ph type="title"/>
          </p:nvPr>
        </p:nvSpPr>
        <p:spPr>
          <a:xfrm>
            <a:off x="592550" y="362700"/>
            <a:ext cx="1926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VGG / Ablation Study</a:t>
            </a:r>
            <a:endParaRPr i="1">
              <a:solidFill>
                <a:srgbClr val="000000"/>
              </a:solidFill>
              <a:latin typeface="Oswald"/>
              <a:ea typeface="Oswald"/>
              <a:cs typeface="Oswald"/>
              <a:sym typeface="Oswald"/>
            </a:endParaRPr>
          </a:p>
        </p:txBody>
      </p:sp>
      <p:sp>
        <p:nvSpPr>
          <p:cNvPr id="283" name="Google Shape;283;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s"/>
              <a:t>22</a:t>
            </a:fld>
            <a:endParaRPr/>
          </a:p>
        </p:txBody>
      </p:sp>
      <p:sp>
        <p:nvSpPr>
          <p:cNvPr id="284" name="Google Shape;284;p47"/>
          <p:cNvSpPr txBox="1"/>
          <p:nvPr/>
        </p:nvSpPr>
        <p:spPr>
          <a:xfrm>
            <a:off x="663300" y="2401225"/>
            <a:ext cx="1103700" cy="255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u="sng">
                <a:solidFill>
                  <a:schemeClr val="hlink"/>
                </a:solidFill>
                <a:hlinkClick r:id="rId4"/>
              </a:rPr>
              <a:t>https://medium.com/coinmonks/paper-review-of-vggnet-1st-runner-up-of-ilsvlc-2014-image-classification-d02355543a11</a:t>
            </a:r>
            <a:r>
              <a:rPr lang="es"/>
              <a:t>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48"/>
          <p:cNvSpPr txBox="1">
            <a:spLocks noGrp="1"/>
          </p:cNvSpPr>
          <p:nvPr>
            <p:ph type="title"/>
          </p:nvPr>
        </p:nvSpPr>
        <p:spPr>
          <a:xfrm>
            <a:off x="592550" y="362700"/>
            <a:ext cx="4204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Funciones de Activación</a:t>
            </a:r>
            <a:endParaRPr i="1">
              <a:solidFill>
                <a:srgbClr val="000000"/>
              </a:solidFill>
              <a:latin typeface="Oswald"/>
              <a:ea typeface="Oswald"/>
              <a:cs typeface="Oswald"/>
              <a:sym typeface="Oswald"/>
            </a:endParaRPr>
          </a:p>
        </p:txBody>
      </p:sp>
      <p:sp>
        <p:nvSpPr>
          <p:cNvPr id="290" name="Google Shape;290;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s"/>
              <a:t>23</a:t>
            </a:fld>
            <a:endParaRPr/>
          </a:p>
        </p:txBody>
      </p:sp>
      <p:pic>
        <p:nvPicPr>
          <p:cNvPr id="291" name="Google Shape;291;p48"/>
          <p:cNvPicPr preferRelativeResize="0"/>
          <p:nvPr/>
        </p:nvPicPr>
        <p:blipFill>
          <a:blip r:embed="rId3">
            <a:alphaModFix/>
          </a:blip>
          <a:stretch>
            <a:fillRect/>
          </a:stretch>
        </p:blipFill>
        <p:spPr>
          <a:xfrm>
            <a:off x="711325" y="1087800"/>
            <a:ext cx="7834371" cy="3423018"/>
          </a:xfrm>
          <a:prstGeom prst="rect">
            <a:avLst/>
          </a:prstGeom>
          <a:noFill/>
          <a:ln>
            <a:noFill/>
          </a:ln>
        </p:spPr>
      </p:pic>
      <p:sp>
        <p:nvSpPr>
          <p:cNvPr id="292" name="Google Shape;292;p48"/>
          <p:cNvSpPr txBox="1"/>
          <p:nvPr/>
        </p:nvSpPr>
        <p:spPr>
          <a:xfrm>
            <a:off x="445725" y="4719000"/>
            <a:ext cx="7619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u="sng">
                <a:solidFill>
                  <a:schemeClr val="hlink"/>
                </a:solidFill>
                <a:hlinkClick r:id="rId4"/>
              </a:rPr>
              <a:t>https://web.eecs.umich.edu/~justincj/slides/eecs498/FA2020/598_FA2020_lecture05.pdf</a:t>
            </a:r>
            <a:r>
              <a:rPr lang="es"/>
              <a:t>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49"/>
          <p:cNvSpPr txBox="1">
            <a:spLocks noGrp="1"/>
          </p:cNvSpPr>
          <p:nvPr>
            <p:ph type="title"/>
          </p:nvPr>
        </p:nvSpPr>
        <p:spPr>
          <a:xfrm>
            <a:off x="592550" y="362700"/>
            <a:ext cx="4204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Funciones de Activación</a:t>
            </a:r>
            <a:endParaRPr i="1">
              <a:solidFill>
                <a:srgbClr val="000000"/>
              </a:solidFill>
              <a:latin typeface="Oswald"/>
              <a:ea typeface="Oswald"/>
              <a:cs typeface="Oswald"/>
              <a:sym typeface="Oswald"/>
            </a:endParaRPr>
          </a:p>
        </p:txBody>
      </p:sp>
      <p:sp>
        <p:nvSpPr>
          <p:cNvPr id="298" name="Google Shape;298;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s"/>
              <a:t>24</a:t>
            </a:fld>
            <a:endParaRPr/>
          </a:p>
        </p:txBody>
      </p:sp>
      <p:pic>
        <p:nvPicPr>
          <p:cNvPr id="299" name="Google Shape;299;p49"/>
          <p:cNvPicPr preferRelativeResize="0"/>
          <p:nvPr/>
        </p:nvPicPr>
        <p:blipFill>
          <a:blip r:embed="rId3">
            <a:alphaModFix/>
          </a:blip>
          <a:stretch>
            <a:fillRect/>
          </a:stretch>
        </p:blipFill>
        <p:spPr>
          <a:xfrm>
            <a:off x="711325" y="1087800"/>
            <a:ext cx="7834371" cy="3423018"/>
          </a:xfrm>
          <a:prstGeom prst="rect">
            <a:avLst/>
          </a:prstGeom>
          <a:noFill/>
          <a:ln>
            <a:noFill/>
          </a:ln>
        </p:spPr>
      </p:pic>
      <p:sp>
        <p:nvSpPr>
          <p:cNvPr id="300" name="Google Shape;300;p49"/>
          <p:cNvSpPr txBox="1"/>
          <p:nvPr/>
        </p:nvSpPr>
        <p:spPr>
          <a:xfrm>
            <a:off x="445725" y="4719000"/>
            <a:ext cx="7619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u="sng">
                <a:solidFill>
                  <a:schemeClr val="hlink"/>
                </a:solidFill>
                <a:hlinkClick r:id="rId4"/>
              </a:rPr>
              <a:t>https://web.eecs.umich.edu/~justincj/slides/eecs498/FA2020/598_FA2020_lecture05.pdf</a:t>
            </a:r>
            <a:r>
              <a:rPr lang="es"/>
              <a:t> </a:t>
            </a:r>
            <a:endParaRPr/>
          </a:p>
        </p:txBody>
      </p:sp>
      <p:sp>
        <p:nvSpPr>
          <p:cNvPr id="301" name="Google Shape;301;p49"/>
          <p:cNvSpPr/>
          <p:nvPr/>
        </p:nvSpPr>
        <p:spPr>
          <a:xfrm>
            <a:off x="711325" y="3247400"/>
            <a:ext cx="3307200" cy="1209900"/>
          </a:xfrm>
          <a:prstGeom prst="rect">
            <a:avLst/>
          </a:prstGeom>
          <a:noFill/>
          <a:ln w="2857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50"/>
          <p:cNvSpPr txBox="1">
            <a:spLocks noGrp="1"/>
          </p:cNvSpPr>
          <p:nvPr>
            <p:ph type="title"/>
          </p:nvPr>
        </p:nvSpPr>
        <p:spPr>
          <a:xfrm>
            <a:off x="592550" y="362700"/>
            <a:ext cx="4204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Normalización</a:t>
            </a:r>
            <a:endParaRPr i="1">
              <a:solidFill>
                <a:srgbClr val="000000"/>
              </a:solidFill>
              <a:latin typeface="Oswald"/>
              <a:ea typeface="Oswald"/>
              <a:cs typeface="Oswald"/>
              <a:sym typeface="Oswald"/>
            </a:endParaRPr>
          </a:p>
        </p:txBody>
      </p:sp>
      <p:sp>
        <p:nvSpPr>
          <p:cNvPr id="307" name="Google Shape;307;p5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s"/>
              <a:t>25</a:t>
            </a:fld>
            <a:endParaRPr/>
          </a:p>
        </p:txBody>
      </p:sp>
      <p:sp>
        <p:nvSpPr>
          <p:cNvPr id="308" name="Google Shape;308;p50"/>
          <p:cNvSpPr txBox="1"/>
          <p:nvPr/>
        </p:nvSpPr>
        <p:spPr>
          <a:xfrm>
            <a:off x="5970375" y="4174225"/>
            <a:ext cx="3000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000">
                <a:solidFill>
                  <a:srgbClr val="222222"/>
                </a:solidFill>
                <a:highlight>
                  <a:srgbClr val="FFFFFF"/>
                </a:highlight>
              </a:rPr>
              <a:t>Wu, Y., &amp; He, K. (2018). Group normalization. In </a:t>
            </a:r>
            <a:r>
              <a:rPr lang="es" sz="1000" i="1">
                <a:solidFill>
                  <a:srgbClr val="222222"/>
                </a:solidFill>
                <a:highlight>
                  <a:srgbClr val="FFFFFF"/>
                </a:highlight>
              </a:rPr>
              <a:t>Proceedings of the European conference on computer vision (ECCV)</a:t>
            </a:r>
            <a:r>
              <a:rPr lang="es" sz="1000">
                <a:solidFill>
                  <a:srgbClr val="222222"/>
                </a:solidFill>
                <a:highlight>
                  <a:srgbClr val="FFFFFF"/>
                </a:highlight>
              </a:rPr>
              <a:t> (pp. 3-19).</a:t>
            </a:r>
            <a:endParaRPr/>
          </a:p>
        </p:txBody>
      </p:sp>
      <p:pic>
        <p:nvPicPr>
          <p:cNvPr id="309" name="Google Shape;309;p50"/>
          <p:cNvPicPr preferRelativeResize="0"/>
          <p:nvPr/>
        </p:nvPicPr>
        <p:blipFill>
          <a:blip r:embed="rId3">
            <a:alphaModFix/>
          </a:blip>
          <a:stretch>
            <a:fillRect/>
          </a:stretch>
        </p:blipFill>
        <p:spPr>
          <a:xfrm>
            <a:off x="0" y="935400"/>
            <a:ext cx="9143999" cy="31755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51"/>
          <p:cNvSpPr txBox="1">
            <a:spLocks noGrp="1"/>
          </p:cNvSpPr>
          <p:nvPr>
            <p:ph type="title"/>
          </p:nvPr>
        </p:nvSpPr>
        <p:spPr>
          <a:xfrm>
            <a:off x="592550" y="362700"/>
            <a:ext cx="4204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Normalización: Batch</a:t>
            </a:r>
            <a:endParaRPr i="1">
              <a:solidFill>
                <a:srgbClr val="000000"/>
              </a:solidFill>
              <a:latin typeface="Oswald"/>
              <a:ea typeface="Oswald"/>
              <a:cs typeface="Oswald"/>
              <a:sym typeface="Oswald"/>
            </a:endParaRPr>
          </a:p>
        </p:txBody>
      </p:sp>
      <p:sp>
        <p:nvSpPr>
          <p:cNvPr id="315" name="Google Shape;315;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s"/>
              <a:t>26</a:t>
            </a:fld>
            <a:endParaRPr/>
          </a:p>
        </p:txBody>
      </p:sp>
      <p:sp>
        <p:nvSpPr>
          <p:cNvPr id="316" name="Google Shape;316;p51"/>
          <p:cNvSpPr txBox="1"/>
          <p:nvPr/>
        </p:nvSpPr>
        <p:spPr>
          <a:xfrm>
            <a:off x="392400" y="4584575"/>
            <a:ext cx="62298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100" u="sng">
                <a:solidFill>
                  <a:schemeClr val="hlink"/>
                </a:solidFill>
                <a:hlinkClick r:id="rId3"/>
              </a:rPr>
              <a:t>https://towardsdatascience.com/batch-normalization-in-3-levels-of-understanding-14c2da90a338</a:t>
            </a:r>
            <a:r>
              <a:rPr lang="es" sz="1100"/>
              <a:t> </a:t>
            </a:r>
            <a:endParaRPr sz="1100"/>
          </a:p>
        </p:txBody>
      </p:sp>
      <p:pic>
        <p:nvPicPr>
          <p:cNvPr id="317" name="Google Shape;317;p51"/>
          <p:cNvPicPr preferRelativeResize="0"/>
          <p:nvPr/>
        </p:nvPicPr>
        <p:blipFill>
          <a:blip r:embed="rId4">
            <a:alphaModFix/>
          </a:blip>
          <a:stretch>
            <a:fillRect/>
          </a:stretch>
        </p:blipFill>
        <p:spPr>
          <a:xfrm>
            <a:off x="2433275" y="1144400"/>
            <a:ext cx="4188915" cy="3344375"/>
          </a:xfrm>
          <a:prstGeom prst="rect">
            <a:avLst/>
          </a:prstGeom>
          <a:noFill/>
          <a:ln>
            <a:noFill/>
          </a:ln>
        </p:spPr>
      </p:pic>
      <p:sp>
        <p:nvSpPr>
          <p:cNvPr id="318" name="Google Shape;318;p51"/>
          <p:cNvSpPr txBox="1"/>
          <p:nvPr/>
        </p:nvSpPr>
        <p:spPr>
          <a:xfrm>
            <a:off x="7174025" y="3162500"/>
            <a:ext cx="1782900" cy="1569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000">
                <a:solidFill>
                  <a:srgbClr val="222222"/>
                </a:solidFill>
                <a:highlight>
                  <a:srgbClr val="FFFFFF"/>
                </a:highlight>
              </a:rPr>
              <a:t>Ioffe, S., &amp; Szegedy, C. (2015, June). Batch normalization: Accelerating deep network training by reducing internal covariate shift. In </a:t>
            </a:r>
            <a:r>
              <a:rPr lang="es" sz="1000" i="1">
                <a:solidFill>
                  <a:srgbClr val="222222"/>
                </a:solidFill>
                <a:highlight>
                  <a:srgbClr val="FFFFFF"/>
                </a:highlight>
              </a:rPr>
              <a:t>International conference on machine learning</a:t>
            </a:r>
            <a:r>
              <a:rPr lang="es" sz="1000">
                <a:solidFill>
                  <a:srgbClr val="222222"/>
                </a:solidFill>
                <a:highlight>
                  <a:srgbClr val="FFFFFF"/>
                </a:highlight>
              </a:rPr>
              <a:t> (pp. 448-456). PMLR.</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52"/>
          <p:cNvSpPr txBox="1">
            <a:spLocks noGrp="1"/>
          </p:cNvSpPr>
          <p:nvPr>
            <p:ph type="title"/>
          </p:nvPr>
        </p:nvSpPr>
        <p:spPr>
          <a:xfrm>
            <a:off x="592550" y="362700"/>
            <a:ext cx="4204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Normalización: Batch</a:t>
            </a:r>
            <a:endParaRPr i="1">
              <a:solidFill>
                <a:srgbClr val="000000"/>
              </a:solidFill>
              <a:latin typeface="Oswald"/>
              <a:ea typeface="Oswald"/>
              <a:cs typeface="Oswald"/>
              <a:sym typeface="Oswald"/>
            </a:endParaRPr>
          </a:p>
        </p:txBody>
      </p:sp>
      <p:sp>
        <p:nvSpPr>
          <p:cNvPr id="324" name="Google Shape;324;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s"/>
              <a:t>27</a:t>
            </a:fld>
            <a:endParaRPr/>
          </a:p>
        </p:txBody>
      </p:sp>
      <p:sp>
        <p:nvSpPr>
          <p:cNvPr id="325" name="Google Shape;325;p52"/>
          <p:cNvSpPr txBox="1"/>
          <p:nvPr/>
        </p:nvSpPr>
        <p:spPr>
          <a:xfrm>
            <a:off x="392400" y="4584575"/>
            <a:ext cx="62298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100" u="sng">
                <a:solidFill>
                  <a:schemeClr val="hlink"/>
                </a:solidFill>
                <a:hlinkClick r:id="rId3"/>
              </a:rPr>
              <a:t>https://towardsdatascience.com/batch-normalization-in-3-levels-of-understanding-14c2da90a338</a:t>
            </a:r>
            <a:r>
              <a:rPr lang="es" sz="1100"/>
              <a:t> </a:t>
            </a:r>
            <a:endParaRPr sz="1100"/>
          </a:p>
        </p:txBody>
      </p:sp>
      <p:sp>
        <p:nvSpPr>
          <p:cNvPr id="326" name="Google Shape;326;p52"/>
          <p:cNvSpPr txBox="1"/>
          <p:nvPr/>
        </p:nvSpPr>
        <p:spPr>
          <a:xfrm>
            <a:off x="7174025" y="3162500"/>
            <a:ext cx="1782900" cy="1569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000">
                <a:solidFill>
                  <a:srgbClr val="222222"/>
                </a:solidFill>
                <a:highlight>
                  <a:srgbClr val="FFFFFF"/>
                </a:highlight>
              </a:rPr>
              <a:t>Ioffe, S., &amp; Szegedy, C. (2015, June). Batch normalization: Accelerating deep network training by reducing internal covariate shift. In </a:t>
            </a:r>
            <a:r>
              <a:rPr lang="es" sz="1000" i="1">
                <a:solidFill>
                  <a:srgbClr val="222222"/>
                </a:solidFill>
                <a:highlight>
                  <a:srgbClr val="FFFFFF"/>
                </a:highlight>
              </a:rPr>
              <a:t>International conference on machine learning</a:t>
            </a:r>
            <a:r>
              <a:rPr lang="es" sz="1000">
                <a:solidFill>
                  <a:srgbClr val="222222"/>
                </a:solidFill>
                <a:highlight>
                  <a:srgbClr val="FFFFFF"/>
                </a:highlight>
              </a:rPr>
              <a:t> (pp. 448-456). PMLR.</a:t>
            </a:r>
            <a:endParaRPr/>
          </a:p>
        </p:txBody>
      </p:sp>
      <p:pic>
        <p:nvPicPr>
          <p:cNvPr id="327" name="Google Shape;327;p52"/>
          <p:cNvPicPr preferRelativeResize="0"/>
          <p:nvPr/>
        </p:nvPicPr>
        <p:blipFill>
          <a:blip r:embed="rId4">
            <a:alphaModFix/>
          </a:blip>
          <a:stretch>
            <a:fillRect/>
          </a:stretch>
        </p:blipFill>
        <p:spPr>
          <a:xfrm>
            <a:off x="1843325" y="1158525"/>
            <a:ext cx="4532229" cy="33443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53"/>
          <p:cNvSpPr txBox="1">
            <a:spLocks noGrp="1"/>
          </p:cNvSpPr>
          <p:nvPr>
            <p:ph type="title"/>
          </p:nvPr>
        </p:nvSpPr>
        <p:spPr>
          <a:xfrm>
            <a:off x="592550" y="362700"/>
            <a:ext cx="4204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Normalización: Instance</a:t>
            </a:r>
            <a:endParaRPr i="1">
              <a:solidFill>
                <a:srgbClr val="000000"/>
              </a:solidFill>
              <a:latin typeface="Oswald"/>
              <a:ea typeface="Oswald"/>
              <a:cs typeface="Oswald"/>
              <a:sym typeface="Oswald"/>
            </a:endParaRPr>
          </a:p>
        </p:txBody>
      </p:sp>
      <p:sp>
        <p:nvSpPr>
          <p:cNvPr id="333" name="Google Shape;333;p5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s"/>
              <a:t>28</a:t>
            </a:fld>
            <a:endParaRPr/>
          </a:p>
        </p:txBody>
      </p:sp>
      <p:pic>
        <p:nvPicPr>
          <p:cNvPr id="334" name="Google Shape;334;p53"/>
          <p:cNvPicPr preferRelativeResize="0"/>
          <p:nvPr/>
        </p:nvPicPr>
        <p:blipFill>
          <a:blip r:embed="rId3">
            <a:alphaModFix/>
          </a:blip>
          <a:stretch>
            <a:fillRect/>
          </a:stretch>
        </p:blipFill>
        <p:spPr>
          <a:xfrm>
            <a:off x="895275" y="811900"/>
            <a:ext cx="6939200" cy="3903300"/>
          </a:xfrm>
          <a:prstGeom prst="rect">
            <a:avLst/>
          </a:prstGeom>
          <a:noFill/>
          <a:ln>
            <a:noFill/>
          </a:ln>
        </p:spPr>
      </p:pic>
      <p:sp>
        <p:nvSpPr>
          <p:cNvPr id="335" name="Google Shape;335;p53"/>
          <p:cNvSpPr txBox="1"/>
          <p:nvPr/>
        </p:nvSpPr>
        <p:spPr>
          <a:xfrm>
            <a:off x="3487950" y="4598725"/>
            <a:ext cx="4846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u="sng">
                <a:solidFill>
                  <a:schemeClr val="hlink"/>
                </a:solidFill>
                <a:hlinkClick r:id="rId4"/>
              </a:rPr>
              <a:t>https://i.ytimg.com/vi/YG60dtlLfGo/maxresdefault.jpg</a:t>
            </a:r>
            <a:r>
              <a:rPr lang="es"/>
              <a:t>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54"/>
          <p:cNvSpPr txBox="1">
            <a:spLocks noGrp="1"/>
          </p:cNvSpPr>
          <p:nvPr>
            <p:ph type="title"/>
          </p:nvPr>
        </p:nvSpPr>
        <p:spPr>
          <a:xfrm>
            <a:off x="592550" y="362700"/>
            <a:ext cx="4204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Normalización: Group</a:t>
            </a:r>
            <a:endParaRPr i="1">
              <a:solidFill>
                <a:srgbClr val="000000"/>
              </a:solidFill>
              <a:latin typeface="Oswald"/>
              <a:ea typeface="Oswald"/>
              <a:cs typeface="Oswald"/>
              <a:sym typeface="Oswald"/>
            </a:endParaRPr>
          </a:p>
        </p:txBody>
      </p:sp>
      <p:sp>
        <p:nvSpPr>
          <p:cNvPr id="341" name="Google Shape;341;p5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s"/>
              <a:t>29</a:t>
            </a:fld>
            <a:endParaRPr/>
          </a:p>
        </p:txBody>
      </p:sp>
      <p:pic>
        <p:nvPicPr>
          <p:cNvPr id="342" name="Google Shape;342;p54"/>
          <p:cNvPicPr preferRelativeResize="0"/>
          <p:nvPr/>
        </p:nvPicPr>
        <p:blipFill>
          <a:blip r:embed="rId3">
            <a:alphaModFix/>
          </a:blip>
          <a:stretch>
            <a:fillRect/>
          </a:stretch>
        </p:blipFill>
        <p:spPr>
          <a:xfrm>
            <a:off x="385063" y="1195400"/>
            <a:ext cx="8373886" cy="2572542"/>
          </a:xfrm>
          <a:prstGeom prst="rect">
            <a:avLst/>
          </a:prstGeom>
          <a:noFill/>
          <a:ln>
            <a:noFill/>
          </a:ln>
        </p:spPr>
      </p:pic>
      <p:sp>
        <p:nvSpPr>
          <p:cNvPr id="343" name="Google Shape;343;p54"/>
          <p:cNvSpPr txBox="1"/>
          <p:nvPr/>
        </p:nvSpPr>
        <p:spPr>
          <a:xfrm>
            <a:off x="5991600" y="3919525"/>
            <a:ext cx="3000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000">
                <a:solidFill>
                  <a:srgbClr val="222222"/>
                </a:solidFill>
                <a:highlight>
                  <a:srgbClr val="FFFFFF"/>
                </a:highlight>
              </a:rPr>
              <a:t>Wu, Y., &amp; He, K. (2018). Group normalization. In </a:t>
            </a:r>
            <a:r>
              <a:rPr lang="es" sz="1000" i="1">
                <a:solidFill>
                  <a:srgbClr val="222222"/>
                </a:solidFill>
                <a:highlight>
                  <a:srgbClr val="FFFFFF"/>
                </a:highlight>
              </a:rPr>
              <a:t>Proceedings of the European conference on computer vision (ECCV)</a:t>
            </a:r>
            <a:r>
              <a:rPr lang="es" sz="1000">
                <a:solidFill>
                  <a:srgbClr val="222222"/>
                </a:solidFill>
                <a:highlight>
                  <a:srgbClr val="FFFFFF"/>
                </a:highlight>
              </a:rPr>
              <a:t> (pp. 3-19).</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55"/>
          <p:cNvSpPr txBox="1">
            <a:spLocks noGrp="1"/>
          </p:cNvSpPr>
          <p:nvPr>
            <p:ph type="title"/>
          </p:nvPr>
        </p:nvSpPr>
        <p:spPr>
          <a:xfrm>
            <a:off x="592550" y="362700"/>
            <a:ext cx="7692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Aritmética Convolucional: Convolución Discreta</a:t>
            </a:r>
            <a:endParaRPr i="1">
              <a:solidFill>
                <a:srgbClr val="000000"/>
              </a:solidFill>
              <a:latin typeface="Oswald"/>
              <a:ea typeface="Oswald"/>
              <a:cs typeface="Oswald"/>
              <a:sym typeface="Oswald"/>
            </a:endParaRPr>
          </a:p>
        </p:txBody>
      </p:sp>
      <p:pic>
        <p:nvPicPr>
          <p:cNvPr id="349" name="Google Shape;349;p55"/>
          <p:cNvPicPr preferRelativeResize="0"/>
          <p:nvPr/>
        </p:nvPicPr>
        <p:blipFill>
          <a:blip r:embed="rId3">
            <a:alphaModFix/>
          </a:blip>
          <a:stretch>
            <a:fillRect/>
          </a:stretch>
        </p:blipFill>
        <p:spPr>
          <a:xfrm>
            <a:off x="2480050" y="1358950"/>
            <a:ext cx="3983800" cy="2588875"/>
          </a:xfrm>
          <a:prstGeom prst="rect">
            <a:avLst/>
          </a:prstGeom>
          <a:noFill/>
          <a:ln>
            <a:noFill/>
          </a:ln>
        </p:spPr>
      </p:pic>
      <p:sp>
        <p:nvSpPr>
          <p:cNvPr id="350" name="Google Shape;350;p55"/>
          <p:cNvSpPr txBox="1"/>
          <p:nvPr/>
        </p:nvSpPr>
        <p:spPr>
          <a:xfrm>
            <a:off x="875550" y="2277725"/>
            <a:ext cx="13584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200" i="1">
                <a:solidFill>
                  <a:srgbClr val="404040"/>
                </a:solidFill>
                <a:highlight>
                  <a:srgbClr val="FCFCFC"/>
                </a:highlight>
              </a:rPr>
              <a:t>input feature map</a:t>
            </a:r>
            <a:endParaRPr/>
          </a:p>
        </p:txBody>
      </p:sp>
      <p:sp>
        <p:nvSpPr>
          <p:cNvPr id="351" name="Google Shape;351;p55"/>
          <p:cNvSpPr txBox="1"/>
          <p:nvPr/>
        </p:nvSpPr>
        <p:spPr>
          <a:xfrm>
            <a:off x="7018375" y="2370125"/>
            <a:ext cx="7995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200" i="1">
                <a:solidFill>
                  <a:srgbClr val="404040"/>
                </a:solidFill>
                <a:highlight>
                  <a:srgbClr val="FCFCFC"/>
                </a:highlight>
              </a:rPr>
              <a:t>kernel</a:t>
            </a:r>
            <a:r>
              <a:rPr lang="es" sz="1200">
                <a:solidFill>
                  <a:srgbClr val="404040"/>
                </a:solidFill>
                <a:highlight>
                  <a:srgbClr val="FCFCFC"/>
                </a:highlight>
              </a:rPr>
              <a:t> </a:t>
            </a:r>
            <a:endParaRPr/>
          </a:p>
        </p:txBody>
      </p:sp>
      <p:cxnSp>
        <p:nvCxnSpPr>
          <p:cNvPr id="352" name="Google Shape;352;p55"/>
          <p:cNvCxnSpPr/>
          <p:nvPr/>
        </p:nvCxnSpPr>
        <p:spPr>
          <a:xfrm rot="10800000" flipH="1">
            <a:off x="1966850" y="2476300"/>
            <a:ext cx="756900" cy="14100"/>
          </a:xfrm>
          <a:prstGeom prst="straightConnector1">
            <a:avLst/>
          </a:prstGeom>
          <a:noFill/>
          <a:ln w="9525" cap="flat" cmpd="sng">
            <a:solidFill>
              <a:schemeClr val="dk2"/>
            </a:solidFill>
            <a:prstDash val="solid"/>
            <a:round/>
            <a:headEnd type="none" w="med" len="med"/>
            <a:tailEnd type="triangle" w="med" len="med"/>
          </a:ln>
        </p:spPr>
      </p:cxnSp>
      <p:cxnSp>
        <p:nvCxnSpPr>
          <p:cNvPr id="353" name="Google Shape;353;p55"/>
          <p:cNvCxnSpPr>
            <a:stCxn id="351" idx="1"/>
            <a:endCxn id="349" idx="3"/>
          </p:cNvCxnSpPr>
          <p:nvPr/>
        </p:nvCxnSpPr>
        <p:spPr>
          <a:xfrm flipH="1">
            <a:off x="6463975" y="2554775"/>
            <a:ext cx="554400" cy="98700"/>
          </a:xfrm>
          <a:prstGeom prst="straightConnector1">
            <a:avLst/>
          </a:prstGeom>
          <a:noFill/>
          <a:ln w="9525" cap="flat" cmpd="sng">
            <a:solidFill>
              <a:schemeClr val="dk2"/>
            </a:solidFill>
            <a:prstDash val="solid"/>
            <a:round/>
            <a:headEnd type="none" w="med" len="med"/>
            <a:tailEnd type="triangle" w="med" len="med"/>
          </a:ln>
        </p:spPr>
      </p:cxnSp>
      <p:sp>
        <p:nvSpPr>
          <p:cNvPr id="354" name="Google Shape;354;p55"/>
          <p:cNvSpPr txBox="1"/>
          <p:nvPr/>
        </p:nvSpPr>
        <p:spPr>
          <a:xfrm>
            <a:off x="4987850" y="4301575"/>
            <a:ext cx="3777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a:t>https://theano-pymc.readthedocs.io/en/latest/tutorial/conv_arithmetic.html</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56"/>
          <p:cNvSpPr txBox="1">
            <a:spLocks noGrp="1"/>
          </p:cNvSpPr>
          <p:nvPr>
            <p:ph type="title"/>
          </p:nvPr>
        </p:nvSpPr>
        <p:spPr>
          <a:xfrm>
            <a:off x="592550" y="362700"/>
            <a:ext cx="7692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Aritmética Convolucional: Convolución Discreta</a:t>
            </a:r>
            <a:endParaRPr i="1">
              <a:solidFill>
                <a:srgbClr val="000000"/>
              </a:solidFill>
              <a:latin typeface="Oswald"/>
              <a:ea typeface="Oswald"/>
              <a:cs typeface="Oswald"/>
              <a:sym typeface="Oswald"/>
            </a:endParaRPr>
          </a:p>
        </p:txBody>
      </p:sp>
      <p:sp>
        <p:nvSpPr>
          <p:cNvPr id="360" name="Google Shape;360;p56"/>
          <p:cNvSpPr txBox="1"/>
          <p:nvPr/>
        </p:nvSpPr>
        <p:spPr>
          <a:xfrm>
            <a:off x="4987850" y="4301575"/>
            <a:ext cx="3777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a:t>https://theano-pymc.readthedocs.io/en/latest/tutorial/conv_arithmetic.html</a:t>
            </a:r>
            <a:endParaRPr/>
          </a:p>
        </p:txBody>
      </p:sp>
      <p:pic>
        <p:nvPicPr>
          <p:cNvPr id="361" name="Google Shape;361;p56"/>
          <p:cNvPicPr preferRelativeResize="0"/>
          <p:nvPr/>
        </p:nvPicPr>
        <p:blipFill>
          <a:blip r:embed="rId3">
            <a:alphaModFix/>
          </a:blip>
          <a:stretch>
            <a:fillRect/>
          </a:stretch>
        </p:blipFill>
        <p:spPr>
          <a:xfrm>
            <a:off x="923575" y="1338263"/>
            <a:ext cx="2324100" cy="2466975"/>
          </a:xfrm>
          <a:prstGeom prst="rect">
            <a:avLst/>
          </a:prstGeom>
          <a:noFill/>
          <a:ln>
            <a:noFill/>
          </a:ln>
        </p:spPr>
      </p:pic>
      <p:sp>
        <p:nvSpPr>
          <p:cNvPr id="362" name="Google Shape;362;p56"/>
          <p:cNvSpPr txBox="1"/>
          <p:nvPr/>
        </p:nvSpPr>
        <p:spPr>
          <a:xfrm>
            <a:off x="5900525" y="1287650"/>
            <a:ext cx="2660100" cy="1416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2000"/>
              <a:t>stride = 1</a:t>
            </a:r>
            <a:endParaRPr sz="2000"/>
          </a:p>
          <a:p>
            <a:pPr marL="0" lvl="0" indent="0" algn="l" rtl="0">
              <a:spcBef>
                <a:spcPts val="0"/>
              </a:spcBef>
              <a:spcAft>
                <a:spcPts val="0"/>
              </a:spcAft>
              <a:buNone/>
            </a:pPr>
            <a:r>
              <a:rPr lang="es" sz="2000"/>
              <a:t>padding = 0</a:t>
            </a:r>
            <a:endParaRPr sz="2000"/>
          </a:p>
          <a:p>
            <a:pPr marL="0" lvl="0" indent="0" algn="l" rtl="0">
              <a:spcBef>
                <a:spcPts val="0"/>
              </a:spcBef>
              <a:spcAft>
                <a:spcPts val="0"/>
              </a:spcAft>
              <a:buNone/>
            </a:pPr>
            <a:r>
              <a:rPr lang="es" sz="2000"/>
              <a:t>filter_size = 3</a:t>
            </a:r>
            <a:endParaRPr sz="2000"/>
          </a:p>
          <a:p>
            <a:pPr marL="0" lvl="0" indent="0" algn="l" rtl="0">
              <a:spcBef>
                <a:spcPts val="0"/>
              </a:spcBef>
              <a:spcAft>
                <a:spcPts val="0"/>
              </a:spcAft>
              <a:buNone/>
            </a:pPr>
            <a:r>
              <a:rPr lang="es" sz="2000"/>
              <a:t>input_size = 4</a:t>
            </a:r>
            <a:endParaRPr sz="2000"/>
          </a:p>
        </p:txBody>
      </p:sp>
      <p:sp>
        <p:nvSpPr>
          <p:cNvPr id="363" name="Google Shape;363;p56"/>
          <p:cNvSpPr/>
          <p:nvPr/>
        </p:nvSpPr>
        <p:spPr>
          <a:xfrm>
            <a:off x="3459650" y="3084675"/>
            <a:ext cx="5369700" cy="846000"/>
          </a:xfrm>
          <a:prstGeom prst="rect">
            <a:avLst/>
          </a:prstGeom>
          <a:solidFill>
            <a:srgbClr val="FFD9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urier New"/>
              <a:ea typeface="Courier New"/>
              <a:cs typeface="Courier New"/>
              <a:sym typeface="Courier New"/>
            </a:endParaRPr>
          </a:p>
        </p:txBody>
      </p:sp>
      <p:pic>
        <p:nvPicPr>
          <p:cNvPr id="364" name="Google Shape;364;p56" descr="o = (i - k) + 1."/>
          <p:cNvPicPr preferRelativeResize="0"/>
          <p:nvPr/>
        </p:nvPicPr>
        <p:blipFill>
          <a:blip r:embed="rId4">
            <a:alphaModFix/>
          </a:blip>
          <a:stretch>
            <a:fillRect/>
          </a:stretch>
        </p:blipFill>
        <p:spPr>
          <a:xfrm>
            <a:off x="4987850" y="3323713"/>
            <a:ext cx="2385333" cy="3578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57"/>
          <p:cNvSpPr txBox="1">
            <a:spLocks noGrp="1"/>
          </p:cNvSpPr>
          <p:nvPr>
            <p:ph type="title"/>
          </p:nvPr>
        </p:nvSpPr>
        <p:spPr>
          <a:xfrm>
            <a:off x="592550" y="362700"/>
            <a:ext cx="7692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Aritmética Convolucional: Zero Padding</a:t>
            </a:r>
            <a:endParaRPr i="1">
              <a:solidFill>
                <a:srgbClr val="000000"/>
              </a:solidFill>
              <a:latin typeface="Oswald"/>
              <a:ea typeface="Oswald"/>
              <a:cs typeface="Oswald"/>
              <a:sym typeface="Oswald"/>
            </a:endParaRPr>
          </a:p>
        </p:txBody>
      </p:sp>
      <p:sp>
        <p:nvSpPr>
          <p:cNvPr id="370" name="Google Shape;370;p57"/>
          <p:cNvSpPr txBox="1"/>
          <p:nvPr/>
        </p:nvSpPr>
        <p:spPr>
          <a:xfrm>
            <a:off x="4987850" y="4301575"/>
            <a:ext cx="3777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a:t>https://theano-pymc.readthedocs.io/en/latest/tutorial/conv_arithmetic.html</a:t>
            </a:r>
            <a:endParaRPr/>
          </a:p>
        </p:txBody>
      </p:sp>
      <p:sp>
        <p:nvSpPr>
          <p:cNvPr id="371" name="Google Shape;371;p57"/>
          <p:cNvSpPr txBox="1"/>
          <p:nvPr/>
        </p:nvSpPr>
        <p:spPr>
          <a:xfrm>
            <a:off x="5900525" y="1287650"/>
            <a:ext cx="2660100" cy="1416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2000"/>
              <a:t>stride = 1</a:t>
            </a:r>
            <a:endParaRPr sz="2000"/>
          </a:p>
          <a:p>
            <a:pPr marL="0" lvl="0" indent="0" algn="l" rtl="0">
              <a:spcBef>
                <a:spcPts val="0"/>
              </a:spcBef>
              <a:spcAft>
                <a:spcPts val="0"/>
              </a:spcAft>
              <a:buNone/>
            </a:pPr>
            <a:r>
              <a:rPr lang="es" sz="2000"/>
              <a:t>padding = 1</a:t>
            </a:r>
            <a:endParaRPr sz="2000"/>
          </a:p>
          <a:p>
            <a:pPr marL="0" lvl="0" indent="0" algn="l" rtl="0">
              <a:spcBef>
                <a:spcPts val="0"/>
              </a:spcBef>
              <a:spcAft>
                <a:spcPts val="0"/>
              </a:spcAft>
              <a:buNone/>
            </a:pPr>
            <a:r>
              <a:rPr lang="es" sz="2000"/>
              <a:t>filter_size = 4</a:t>
            </a:r>
            <a:endParaRPr sz="2000"/>
          </a:p>
          <a:p>
            <a:pPr marL="0" lvl="0" indent="0" algn="l" rtl="0">
              <a:spcBef>
                <a:spcPts val="0"/>
              </a:spcBef>
              <a:spcAft>
                <a:spcPts val="0"/>
              </a:spcAft>
              <a:buNone/>
            </a:pPr>
            <a:r>
              <a:rPr lang="es" sz="2000"/>
              <a:t>input_size = 5</a:t>
            </a:r>
            <a:endParaRPr sz="2000"/>
          </a:p>
        </p:txBody>
      </p:sp>
      <p:sp>
        <p:nvSpPr>
          <p:cNvPr id="372" name="Google Shape;372;p57"/>
          <p:cNvSpPr/>
          <p:nvPr/>
        </p:nvSpPr>
        <p:spPr>
          <a:xfrm>
            <a:off x="3459650" y="3084675"/>
            <a:ext cx="5624700" cy="846000"/>
          </a:xfrm>
          <a:prstGeom prst="rect">
            <a:avLst/>
          </a:prstGeom>
          <a:solidFill>
            <a:srgbClr val="FFD9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urier New"/>
              <a:ea typeface="Courier New"/>
              <a:cs typeface="Courier New"/>
              <a:sym typeface="Courier New"/>
            </a:endParaRPr>
          </a:p>
        </p:txBody>
      </p:sp>
      <p:pic>
        <p:nvPicPr>
          <p:cNvPr id="373" name="Google Shape;373;p57"/>
          <p:cNvPicPr preferRelativeResize="0"/>
          <p:nvPr/>
        </p:nvPicPr>
        <p:blipFill>
          <a:blip r:embed="rId3">
            <a:alphaModFix/>
          </a:blip>
          <a:stretch>
            <a:fillRect/>
          </a:stretch>
        </p:blipFill>
        <p:spPr>
          <a:xfrm>
            <a:off x="152400" y="1087800"/>
            <a:ext cx="3154850" cy="3454402"/>
          </a:xfrm>
          <a:prstGeom prst="rect">
            <a:avLst/>
          </a:prstGeom>
          <a:noFill/>
          <a:ln>
            <a:noFill/>
          </a:ln>
        </p:spPr>
      </p:pic>
      <p:pic>
        <p:nvPicPr>
          <p:cNvPr id="374" name="Google Shape;374;p57" descr="o = (i - k) + 2p + 1."/>
          <p:cNvPicPr preferRelativeResize="0"/>
          <p:nvPr/>
        </p:nvPicPr>
        <p:blipFill>
          <a:blip r:embed="rId4">
            <a:alphaModFix/>
          </a:blip>
          <a:stretch>
            <a:fillRect/>
          </a:stretch>
        </p:blipFill>
        <p:spPr>
          <a:xfrm>
            <a:off x="4987850" y="3335525"/>
            <a:ext cx="2970450" cy="3341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58"/>
          <p:cNvSpPr txBox="1">
            <a:spLocks noGrp="1"/>
          </p:cNvSpPr>
          <p:nvPr>
            <p:ph type="title"/>
          </p:nvPr>
        </p:nvSpPr>
        <p:spPr>
          <a:xfrm>
            <a:off x="592550" y="362700"/>
            <a:ext cx="7692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Aritmética Convolucional: padding = ‘same’</a:t>
            </a:r>
            <a:endParaRPr i="1">
              <a:solidFill>
                <a:srgbClr val="000000"/>
              </a:solidFill>
              <a:latin typeface="Oswald"/>
              <a:ea typeface="Oswald"/>
              <a:cs typeface="Oswald"/>
              <a:sym typeface="Oswald"/>
            </a:endParaRPr>
          </a:p>
        </p:txBody>
      </p:sp>
      <p:sp>
        <p:nvSpPr>
          <p:cNvPr id="380" name="Google Shape;380;p58"/>
          <p:cNvSpPr txBox="1"/>
          <p:nvPr/>
        </p:nvSpPr>
        <p:spPr>
          <a:xfrm>
            <a:off x="4987850" y="4301575"/>
            <a:ext cx="3777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a:t>https://theano-pymc.readthedocs.io/en/latest/tutorial/conv_arithmetic.html</a:t>
            </a:r>
            <a:endParaRPr/>
          </a:p>
        </p:txBody>
      </p:sp>
      <p:sp>
        <p:nvSpPr>
          <p:cNvPr id="381" name="Google Shape;381;p58"/>
          <p:cNvSpPr txBox="1"/>
          <p:nvPr/>
        </p:nvSpPr>
        <p:spPr>
          <a:xfrm>
            <a:off x="5900525" y="1287650"/>
            <a:ext cx="2660100" cy="1416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2000"/>
              <a:t>stride = 1</a:t>
            </a:r>
            <a:endParaRPr sz="2000"/>
          </a:p>
          <a:p>
            <a:pPr marL="0" lvl="0" indent="0" algn="l" rtl="0">
              <a:spcBef>
                <a:spcPts val="0"/>
              </a:spcBef>
              <a:spcAft>
                <a:spcPts val="0"/>
              </a:spcAft>
              <a:buNone/>
            </a:pPr>
            <a:r>
              <a:rPr lang="es" sz="2000"/>
              <a:t>zero_padding = 1</a:t>
            </a:r>
            <a:endParaRPr sz="2000"/>
          </a:p>
          <a:p>
            <a:pPr marL="0" lvl="0" indent="0" algn="l" rtl="0">
              <a:spcBef>
                <a:spcPts val="0"/>
              </a:spcBef>
              <a:spcAft>
                <a:spcPts val="0"/>
              </a:spcAft>
              <a:buNone/>
            </a:pPr>
            <a:r>
              <a:rPr lang="es" sz="2000"/>
              <a:t>filter_size = 4</a:t>
            </a:r>
            <a:endParaRPr sz="2000"/>
          </a:p>
          <a:p>
            <a:pPr marL="0" lvl="0" indent="0" algn="l" rtl="0">
              <a:spcBef>
                <a:spcPts val="0"/>
              </a:spcBef>
              <a:spcAft>
                <a:spcPts val="0"/>
              </a:spcAft>
              <a:buNone/>
            </a:pPr>
            <a:r>
              <a:rPr lang="es" sz="2000"/>
              <a:t>input_size = 5</a:t>
            </a:r>
            <a:endParaRPr sz="2000"/>
          </a:p>
        </p:txBody>
      </p:sp>
      <p:sp>
        <p:nvSpPr>
          <p:cNvPr id="382" name="Google Shape;382;p58"/>
          <p:cNvSpPr/>
          <p:nvPr/>
        </p:nvSpPr>
        <p:spPr>
          <a:xfrm>
            <a:off x="3459650" y="3084675"/>
            <a:ext cx="5624700" cy="1075500"/>
          </a:xfrm>
          <a:prstGeom prst="rect">
            <a:avLst/>
          </a:prstGeom>
          <a:solidFill>
            <a:srgbClr val="FFD9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urier New"/>
              <a:ea typeface="Courier New"/>
              <a:cs typeface="Courier New"/>
              <a:sym typeface="Courier New"/>
            </a:endParaRPr>
          </a:p>
        </p:txBody>
      </p:sp>
      <p:pic>
        <p:nvPicPr>
          <p:cNvPr id="383" name="Google Shape;383;p58"/>
          <p:cNvPicPr preferRelativeResize="0"/>
          <p:nvPr/>
        </p:nvPicPr>
        <p:blipFill>
          <a:blip r:embed="rId3">
            <a:alphaModFix/>
          </a:blip>
          <a:stretch>
            <a:fillRect/>
          </a:stretch>
        </p:blipFill>
        <p:spPr>
          <a:xfrm>
            <a:off x="152400" y="1087800"/>
            <a:ext cx="3154850" cy="3586146"/>
          </a:xfrm>
          <a:prstGeom prst="rect">
            <a:avLst/>
          </a:prstGeom>
          <a:noFill/>
          <a:ln>
            <a:noFill/>
          </a:ln>
        </p:spPr>
      </p:pic>
      <p:pic>
        <p:nvPicPr>
          <p:cNvPr id="384" name="Google Shape;384;p58" descr="\begin{split}&#10;    o &amp;= i + 2 \lfloor k / 2 \rfloor - (k - 1) \\&#10;    &amp;= i + 2n - 2n \\&#10;    &amp;= i.&#10;\end{split}"/>
          <p:cNvPicPr preferRelativeResize="0"/>
          <p:nvPr/>
        </p:nvPicPr>
        <p:blipFill>
          <a:blip r:embed="rId4">
            <a:alphaModFix/>
          </a:blip>
          <a:stretch>
            <a:fillRect/>
          </a:stretch>
        </p:blipFill>
        <p:spPr>
          <a:xfrm>
            <a:off x="5191750" y="3199425"/>
            <a:ext cx="2435476" cy="8460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59"/>
          <p:cNvSpPr txBox="1">
            <a:spLocks noGrp="1"/>
          </p:cNvSpPr>
          <p:nvPr>
            <p:ph type="title"/>
          </p:nvPr>
        </p:nvSpPr>
        <p:spPr>
          <a:xfrm>
            <a:off x="592550" y="362700"/>
            <a:ext cx="7692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Aritmética Convolucional: padding = ‘same’</a:t>
            </a:r>
            <a:endParaRPr i="1">
              <a:solidFill>
                <a:srgbClr val="000000"/>
              </a:solidFill>
              <a:latin typeface="Oswald"/>
              <a:ea typeface="Oswald"/>
              <a:cs typeface="Oswald"/>
              <a:sym typeface="Oswald"/>
            </a:endParaRPr>
          </a:p>
        </p:txBody>
      </p:sp>
      <p:sp>
        <p:nvSpPr>
          <p:cNvPr id="390" name="Google Shape;390;p59"/>
          <p:cNvSpPr txBox="1"/>
          <p:nvPr/>
        </p:nvSpPr>
        <p:spPr>
          <a:xfrm>
            <a:off x="4987850" y="4301575"/>
            <a:ext cx="3777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a:t>https://theano-pymc.readthedocs.io/en/latest/tutorial/conv_arithmetic.html</a:t>
            </a:r>
            <a:endParaRPr/>
          </a:p>
        </p:txBody>
      </p:sp>
      <p:sp>
        <p:nvSpPr>
          <p:cNvPr id="391" name="Google Shape;391;p59"/>
          <p:cNvSpPr txBox="1"/>
          <p:nvPr/>
        </p:nvSpPr>
        <p:spPr>
          <a:xfrm>
            <a:off x="5900525" y="1287650"/>
            <a:ext cx="2660100" cy="1416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2000"/>
              <a:t>stride = 1</a:t>
            </a:r>
            <a:endParaRPr sz="2000"/>
          </a:p>
          <a:p>
            <a:pPr marL="0" lvl="0" indent="0" algn="l" rtl="0">
              <a:spcBef>
                <a:spcPts val="0"/>
              </a:spcBef>
              <a:spcAft>
                <a:spcPts val="0"/>
              </a:spcAft>
              <a:buNone/>
            </a:pPr>
            <a:r>
              <a:rPr lang="es" sz="2000"/>
              <a:t>zero_padding = </a:t>
            </a:r>
            <a:r>
              <a:rPr lang="es" sz="2000">
                <a:solidFill>
                  <a:srgbClr val="FFFFFF"/>
                </a:solidFill>
                <a:highlight>
                  <a:srgbClr val="3C78D8"/>
                </a:highlight>
              </a:rPr>
              <a:t>??</a:t>
            </a:r>
            <a:endParaRPr sz="2000">
              <a:solidFill>
                <a:srgbClr val="FFFFFF"/>
              </a:solidFill>
              <a:highlight>
                <a:srgbClr val="3C78D8"/>
              </a:highlight>
            </a:endParaRPr>
          </a:p>
          <a:p>
            <a:pPr marL="0" lvl="0" indent="0" algn="l" rtl="0">
              <a:spcBef>
                <a:spcPts val="0"/>
              </a:spcBef>
              <a:spcAft>
                <a:spcPts val="0"/>
              </a:spcAft>
              <a:buNone/>
            </a:pPr>
            <a:r>
              <a:rPr lang="es" sz="2000"/>
              <a:t>filter_size = 3</a:t>
            </a:r>
            <a:endParaRPr sz="2000"/>
          </a:p>
          <a:p>
            <a:pPr marL="0" lvl="0" indent="0" algn="l" rtl="0">
              <a:spcBef>
                <a:spcPts val="0"/>
              </a:spcBef>
              <a:spcAft>
                <a:spcPts val="0"/>
              </a:spcAft>
              <a:buNone/>
            </a:pPr>
            <a:r>
              <a:rPr lang="es" sz="2000"/>
              <a:t>input_size = 5</a:t>
            </a:r>
            <a:endParaRPr sz="2000"/>
          </a:p>
        </p:txBody>
      </p:sp>
      <p:sp>
        <p:nvSpPr>
          <p:cNvPr id="392" name="Google Shape;392;p59"/>
          <p:cNvSpPr/>
          <p:nvPr/>
        </p:nvSpPr>
        <p:spPr>
          <a:xfrm>
            <a:off x="3459650" y="3084675"/>
            <a:ext cx="5624700" cy="1040100"/>
          </a:xfrm>
          <a:prstGeom prst="rect">
            <a:avLst/>
          </a:prstGeom>
          <a:solidFill>
            <a:srgbClr val="FFD9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urier New"/>
              <a:ea typeface="Courier New"/>
              <a:cs typeface="Courier New"/>
              <a:sym typeface="Courier New"/>
            </a:endParaRPr>
          </a:p>
        </p:txBody>
      </p:sp>
      <p:pic>
        <p:nvPicPr>
          <p:cNvPr id="393" name="Google Shape;393;p59"/>
          <p:cNvPicPr preferRelativeResize="0"/>
          <p:nvPr/>
        </p:nvPicPr>
        <p:blipFill>
          <a:blip r:embed="rId3">
            <a:alphaModFix/>
          </a:blip>
          <a:stretch>
            <a:fillRect/>
          </a:stretch>
        </p:blipFill>
        <p:spPr>
          <a:xfrm>
            <a:off x="152400" y="1087800"/>
            <a:ext cx="3154850" cy="3586146"/>
          </a:xfrm>
          <a:prstGeom prst="rect">
            <a:avLst/>
          </a:prstGeom>
          <a:noFill/>
          <a:ln>
            <a:noFill/>
          </a:ln>
        </p:spPr>
      </p:pic>
      <p:pic>
        <p:nvPicPr>
          <p:cNvPr id="394" name="Google Shape;394;p59" descr="k = 2n + 1, \quad n \in&#10;\mathbb{N}"/>
          <p:cNvPicPr preferRelativeResize="0"/>
          <p:nvPr/>
        </p:nvPicPr>
        <p:blipFill>
          <a:blip r:embed="rId4">
            <a:alphaModFix/>
          </a:blip>
          <a:stretch>
            <a:fillRect/>
          </a:stretch>
        </p:blipFill>
        <p:spPr>
          <a:xfrm>
            <a:off x="4572000" y="3169575"/>
            <a:ext cx="2524675" cy="275125"/>
          </a:xfrm>
          <a:prstGeom prst="rect">
            <a:avLst/>
          </a:prstGeom>
          <a:noFill/>
          <a:ln>
            <a:noFill/>
          </a:ln>
        </p:spPr>
      </p:pic>
      <p:cxnSp>
        <p:nvCxnSpPr>
          <p:cNvPr id="395" name="Google Shape;395;p59"/>
          <p:cNvCxnSpPr/>
          <p:nvPr/>
        </p:nvCxnSpPr>
        <p:spPr>
          <a:xfrm rot="10800000" flipH="1">
            <a:off x="5256700" y="2744975"/>
            <a:ext cx="7200" cy="311400"/>
          </a:xfrm>
          <a:prstGeom prst="straightConnector1">
            <a:avLst/>
          </a:prstGeom>
          <a:noFill/>
          <a:ln w="9525" cap="flat" cmpd="sng">
            <a:solidFill>
              <a:schemeClr val="dk2"/>
            </a:solidFill>
            <a:prstDash val="solid"/>
            <a:round/>
            <a:headEnd type="none" w="med" len="med"/>
            <a:tailEnd type="triangle" w="med" len="med"/>
          </a:ln>
        </p:spPr>
      </p:cxnSp>
      <p:sp>
        <p:nvSpPr>
          <p:cNvPr id="396" name="Google Shape;396;p59"/>
          <p:cNvSpPr txBox="1"/>
          <p:nvPr/>
        </p:nvSpPr>
        <p:spPr>
          <a:xfrm>
            <a:off x="4881725" y="2316475"/>
            <a:ext cx="9339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900"/>
              <a:t>impar</a:t>
            </a:r>
            <a:endParaRPr sz="1900"/>
          </a:p>
        </p:txBody>
      </p:sp>
      <p:pic>
        <p:nvPicPr>
          <p:cNvPr id="397" name="Google Shape;397;p59" descr="s = 1"/>
          <p:cNvPicPr preferRelativeResize="0"/>
          <p:nvPr/>
        </p:nvPicPr>
        <p:blipFill>
          <a:blip r:embed="rId5">
            <a:alphaModFix/>
          </a:blip>
          <a:stretch>
            <a:fillRect/>
          </a:stretch>
        </p:blipFill>
        <p:spPr>
          <a:xfrm>
            <a:off x="7775400" y="3188250"/>
            <a:ext cx="749925" cy="237775"/>
          </a:xfrm>
          <a:prstGeom prst="rect">
            <a:avLst/>
          </a:prstGeom>
          <a:noFill/>
          <a:ln>
            <a:noFill/>
          </a:ln>
        </p:spPr>
      </p:pic>
      <p:pic>
        <p:nvPicPr>
          <p:cNvPr id="398" name="Google Shape;398;p59" descr="p = \lfloor k / 2 \rfloor = n"/>
          <p:cNvPicPr preferRelativeResize="0"/>
          <p:nvPr/>
        </p:nvPicPr>
        <p:blipFill>
          <a:blip r:embed="rId6">
            <a:alphaModFix/>
          </a:blip>
          <a:stretch>
            <a:fillRect/>
          </a:stretch>
        </p:blipFill>
        <p:spPr>
          <a:xfrm>
            <a:off x="5589225" y="3653763"/>
            <a:ext cx="1852010" cy="311400"/>
          </a:xfrm>
          <a:prstGeom prst="rect">
            <a:avLst/>
          </a:prstGeom>
          <a:noFill/>
          <a:ln>
            <a:noFill/>
          </a:ln>
        </p:spPr>
      </p:pic>
      <p:sp>
        <p:nvSpPr>
          <p:cNvPr id="399" name="Google Shape;399;p59"/>
          <p:cNvSpPr txBox="1"/>
          <p:nvPr/>
        </p:nvSpPr>
        <p:spPr>
          <a:xfrm>
            <a:off x="5525575" y="3563150"/>
            <a:ext cx="5589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s" sz="2000">
                <a:solidFill>
                  <a:srgbClr val="FFFFFF"/>
                </a:solidFill>
                <a:highlight>
                  <a:srgbClr val="3C78D8"/>
                </a:highlight>
              </a:rPr>
              <a:t>p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60"/>
          <p:cNvSpPr txBox="1">
            <a:spLocks noGrp="1"/>
          </p:cNvSpPr>
          <p:nvPr>
            <p:ph type="title"/>
          </p:nvPr>
        </p:nvSpPr>
        <p:spPr>
          <a:xfrm>
            <a:off x="592550" y="362700"/>
            <a:ext cx="7692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Aritmética Convolucional: Full Padding</a:t>
            </a:r>
            <a:endParaRPr i="1">
              <a:solidFill>
                <a:srgbClr val="000000"/>
              </a:solidFill>
              <a:latin typeface="Oswald"/>
              <a:ea typeface="Oswald"/>
              <a:cs typeface="Oswald"/>
              <a:sym typeface="Oswald"/>
            </a:endParaRPr>
          </a:p>
        </p:txBody>
      </p:sp>
      <p:sp>
        <p:nvSpPr>
          <p:cNvPr id="405" name="Google Shape;405;p60"/>
          <p:cNvSpPr txBox="1"/>
          <p:nvPr/>
        </p:nvSpPr>
        <p:spPr>
          <a:xfrm>
            <a:off x="4987850" y="4301575"/>
            <a:ext cx="3777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a:t>https://theano-pymc.readthedocs.io/en/latest/tutorial/conv_arithmetic.html</a:t>
            </a:r>
            <a:endParaRPr/>
          </a:p>
        </p:txBody>
      </p:sp>
      <p:sp>
        <p:nvSpPr>
          <p:cNvPr id="406" name="Google Shape;406;p60"/>
          <p:cNvSpPr txBox="1"/>
          <p:nvPr/>
        </p:nvSpPr>
        <p:spPr>
          <a:xfrm>
            <a:off x="5235475" y="1287650"/>
            <a:ext cx="3664500" cy="1416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2000"/>
              <a:t>stride = 1</a:t>
            </a:r>
            <a:endParaRPr sz="2000"/>
          </a:p>
          <a:p>
            <a:pPr marL="0" lvl="0" indent="0" algn="l" rtl="0">
              <a:spcBef>
                <a:spcPts val="0"/>
              </a:spcBef>
              <a:spcAft>
                <a:spcPts val="0"/>
              </a:spcAft>
              <a:buNone/>
            </a:pPr>
            <a:r>
              <a:rPr lang="es" sz="2000"/>
              <a:t>zero_padding = </a:t>
            </a:r>
            <a:r>
              <a:rPr lang="es" sz="2000">
                <a:solidFill>
                  <a:srgbClr val="FFFFFF"/>
                </a:solidFill>
                <a:highlight>
                  <a:srgbClr val="3C78D8"/>
                </a:highlight>
              </a:rPr>
              <a:t>filter_size - 1 </a:t>
            </a:r>
            <a:endParaRPr sz="2000">
              <a:solidFill>
                <a:srgbClr val="FFFFFF"/>
              </a:solidFill>
              <a:highlight>
                <a:srgbClr val="3C78D8"/>
              </a:highlight>
            </a:endParaRPr>
          </a:p>
          <a:p>
            <a:pPr marL="0" lvl="0" indent="0" algn="l" rtl="0">
              <a:spcBef>
                <a:spcPts val="0"/>
              </a:spcBef>
              <a:spcAft>
                <a:spcPts val="0"/>
              </a:spcAft>
              <a:buNone/>
            </a:pPr>
            <a:r>
              <a:rPr lang="es" sz="2000"/>
              <a:t>filter_size = 3</a:t>
            </a:r>
            <a:endParaRPr sz="2000"/>
          </a:p>
          <a:p>
            <a:pPr marL="0" lvl="0" indent="0" algn="l" rtl="0">
              <a:spcBef>
                <a:spcPts val="0"/>
              </a:spcBef>
              <a:spcAft>
                <a:spcPts val="0"/>
              </a:spcAft>
              <a:buNone/>
            </a:pPr>
            <a:r>
              <a:rPr lang="es" sz="2000"/>
              <a:t>input_size = 5</a:t>
            </a:r>
            <a:endParaRPr sz="2000"/>
          </a:p>
        </p:txBody>
      </p:sp>
      <p:sp>
        <p:nvSpPr>
          <p:cNvPr id="407" name="Google Shape;407;p60"/>
          <p:cNvSpPr/>
          <p:nvPr/>
        </p:nvSpPr>
        <p:spPr>
          <a:xfrm>
            <a:off x="3459650" y="3084675"/>
            <a:ext cx="5624700" cy="1252200"/>
          </a:xfrm>
          <a:prstGeom prst="rect">
            <a:avLst/>
          </a:prstGeom>
          <a:solidFill>
            <a:srgbClr val="FFD9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urier New"/>
              <a:ea typeface="Courier New"/>
              <a:cs typeface="Courier New"/>
              <a:sym typeface="Courier New"/>
            </a:endParaRPr>
          </a:p>
        </p:txBody>
      </p:sp>
      <p:pic>
        <p:nvPicPr>
          <p:cNvPr id="408" name="Google Shape;408;p60"/>
          <p:cNvPicPr preferRelativeResize="0"/>
          <p:nvPr/>
        </p:nvPicPr>
        <p:blipFill>
          <a:blip r:embed="rId3">
            <a:alphaModFix/>
          </a:blip>
          <a:stretch>
            <a:fillRect/>
          </a:stretch>
        </p:blipFill>
        <p:spPr>
          <a:xfrm>
            <a:off x="152400" y="1087800"/>
            <a:ext cx="3154850" cy="3671099"/>
          </a:xfrm>
          <a:prstGeom prst="rect">
            <a:avLst/>
          </a:prstGeom>
          <a:noFill/>
          <a:ln>
            <a:noFill/>
          </a:ln>
        </p:spPr>
      </p:pic>
      <p:sp>
        <p:nvSpPr>
          <p:cNvPr id="409" name="Google Shape;409;p60"/>
          <p:cNvSpPr txBox="1"/>
          <p:nvPr/>
        </p:nvSpPr>
        <p:spPr>
          <a:xfrm>
            <a:off x="3240325" y="1117175"/>
            <a:ext cx="21579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a:t>Todas las sobreposiciones posibles</a:t>
            </a:r>
            <a:endParaRPr/>
          </a:p>
        </p:txBody>
      </p:sp>
      <p:pic>
        <p:nvPicPr>
          <p:cNvPr id="410" name="Google Shape;410;p60" descr="p = k - 1"/>
          <p:cNvPicPr preferRelativeResize="0"/>
          <p:nvPr/>
        </p:nvPicPr>
        <p:blipFill>
          <a:blip r:embed="rId4">
            <a:alphaModFix/>
          </a:blip>
          <a:stretch>
            <a:fillRect/>
          </a:stretch>
        </p:blipFill>
        <p:spPr>
          <a:xfrm>
            <a:off x="4846350" y="3276563"/>
            <a:ext cx="1224000" cy="264646"/>
          </a:xfrm>
          <a:prstGeom prst="rect">
            <a:avLst/>
          </a:prstGeom>
          <a:noFill/>
          <a:ln>
            <a:noFill/>
          </a:ln>
        </p:spPr>
      </p:pic>
      <p:pic>
        <p:nvPicPr>
          <p:cNvPr id="411" name="Google Shape;411;p60" descr="s = 1"/>
          <p:cNvPicPr preferRelativeResize="0"/>
          <p:nvPr/>
        </p:nvPicPr>
        <p:blipFill>
          <a:blip r:embed="rId5">
            <a:alphaModFix/>
          </a:blip>
          <a:stretch>
            <a:fillRect/>
          </a:stretch>
        </p:blipFill>
        <p:spPr>
          <a:xfrm>
            <a:off x="7089125" y="3226563"/>
            <a:ext cx="748400" cy="237294"/>
          </a:xfrm>
          <a:prstGeom prst="rect">
            <a:avLst/>
          </a:prstGeom>
          <a:noFill/>
          <a:ln>
            <a:noFill/>
          </a:ln>
        </p:spPr>
      </p:pic>
      <p:pic>
        <p:nvPicPr>
          <p:cNvPr id="412" name="Google Shape;412;p60" descr="\begin{split}&#10;    o &amp;= i + 2(k - 1) - (k - 1) \\&#10;    &amp;= i + (k - 1).&#10;\end{split}"/>
          <p:cNvPicPr preferRelativeResize="0"/>
          <p:nvPr/>
        </p:nvPicPr>
        <p:blipFill>
          <a:blip r:embed="rId6">
            <a:alphaModFix/>
          </a:blip>
          <a:stretch>
            <a:fillRect/>
          </a:stretch>
        </p:blipFill>
        <p:spPr>
          <a:xfrm>
            <a:off x="4881725" y="3678975"/>
            <a:ext cx="2616198" cy="5727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61"/>
          <p:cNvSpPr txBox="1">
            <a:spLocks noGrp="1"/>
          </p:cNvSpPr>
          <p:nvPr>
            <p:ph type="title"/>
          </p:nvPr>
        </p:nvSpPr>
        <p:spPr>
          <a:xfrm>
            <a:off x="592550" y="362700"/>
            <a:ext cx="7692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Aritmética Convolucional: No-Padding, stride &gt; 1</a:t>
            </a:r>
            <a:endParaRPr i="1">
              <a:solidFill>
                <a:srgbClr val="000000"/>
              </a:solidFill>
              <a:latin typeface="Oswald"/>
              <a:ea typeface="Oswald"/>
              <a:cs typeface="Oswald"/>
              <a:sym typeface="Oswald"/>
            </a:endParaRPr>
          </a:p>
        </p:txBody>
      </p:sp>
      <p:sp>
        <p:nvSpPr>
          <p:cNvPr id="418" name="Google Shape;418;p61"/>
          <p:cNvSpPr txBox="1"/>
          <p:nvPr/>
        </p:nvSpPr>
        <p:spPr>
          <a:xfrm>
            <a:off x="4987850" y="4301575"/>
            <a:ext cx="3777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a:t>https://theano-pymc.readthedocs.io/en/latest/tutorial/conv_arithmetic.html</a:t>
            </a:r>
            <a:endParaRPr/>
          </a:p>
        </p:txBody>
      </p:sp>
      <p:sp>
        <p:nvSpPr>
          <p:cNvPr id="419" name="Google Shape;419;p61"/>
          <p:cNvSpPr txBox="1"/>
          <p:nvPr/>
        </p:nvSpPr>
        <p:spPr>
          <a:xfrm>
            <a:off x="5235475" y="1287650"/>
            <a:ext cx="3664500" cy="1416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2000"/>
              <a:t>stride = 2</a:t>
            </a:r>
            <a:endParaRPr sz="2000"/>
          </a:p>
          <a:p>
            <a:pPr marL="0" lvl="0" indent="0" algn="l" rtl="0">
              <a:spcBef>
                <a:spcPts val="0"/>
              </a:spcBef>
              <a:spcAft>
                <a:spcPts val="0"/>
              </a:spcAft>
              <a:buNone/>
            </a:pPr>
            <a:r>
              <a:rPr lang="es" sz="2000"/>
              <a:t>zero_padding = 0 </a:t>
            </a:r>
            <a:endParaRPr sz="2000">
              <a:solidFill>
                <a:srgbClr val="FFFFFF"/>
              </a:solidFill>
              <a:highlight>
                <a:srgbClr val="3C78D8"/>
              </a:highlight>
            </a:endParaRPr>
          </a:p>
          <a:p>
            <a:pPr marL="0" lvl="0" indent="0" algn="l" rtl="0">
              <a:spcBef>
                <a:spcPts val="0"/>
              </a:spcBef>
              <a:spcAft>
                <a:spcPts val="0"/>
              </a:spcAft>
              <a:buNone/>
            </a:pPr>
            <a:r>
              <a:rPr lang="es" sz="2000"/>
              <a:t>filter_size = 3</a:t>
            </a:r>
            <a:endParaRPr sz="2000"/>
          </a:p>
          <a:p>
            <a:pPr marL="0" lvl="0" indent="0" algn="l" rtl="0">
              <a:spcBef>
                <a:spcPts val="0"/>
              </a:spcBef>
              <a:spcAft>
                <a:spcPts val="0"/>
              </a:spcAft>
              <a:buNone/>
            </a:pPr>
            <a:r>
              <a:rPr lang="es" sz="2000"/>
              <a:t>input_size = 5</a:t>
            </a:r>
            <a:endParaRPr sz="2000"/>
          </a:p>
        </p:txBody>
      </p:sp>
      <p:sp>
        <p:nvSpPr>
          <p:cNvPr id="420" name="Google Shape;420;p61"/>
          <p:cNvSpPr/>
          <p:nvPr/>
        </p:nvSpPr>
        <p:spPr>
          <a:xfrm>
            <a:off x="3459650" y="3084675"/>
            <a:ext cx="5624700" cy="1252200"/>
          </a:xfrm>
          <a:prstGeom prst="rect">
            <a:avLst/>
          </a:prstGeom>
          <a:solidFill>
            <a:srgbClr val="FFD9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urier New"/>
              <a:ea typeface="Courier New"/>
              <a:cs typeface="Courier New"/>
              <a:sym typeface="Courier New"/>
            </a:endParaRPr>
          </a:p>
        </p:txBody>
      </p:sp>
      <p:pic>
        <p:nvPicPr>
          <p:cNvPr id="421" name="Google Shape;421;p61"/>
          <p:cNvPicPr preferRelativeResize="0"/>
          <p:nvPr/>
        </p:nvPicPr>
        <p:blipFill>
          <a:blip r:embed="rId3">
            <a:alphaModFix/>
          </a:blip>
          <a:stretch>
            <a:fillRect/>
          </a:stretch>
        </p:blipFill>
        <p:spPr>
          <a:xfrm>
            <a:off x="237300" y="1384950"/>
            <a:ext cx="2800350" cy="2743200"/>
          </a:xfrm>
          <a:prstGeom prst="rect">
            <a:avLst/>
          </a:prstGeom>
          <a:noFill/>
          <a:ln>
            <a:noFill/>
          </a:ln>
        </p:spPr>
      </p:pic>
      <p:pic>
        <p:nvPicPr>
          <p:cNvPr id="422" name="Google Shape;422;p61" descr="o = \left\lfloor \frac{i - k}{s} \right\rfloor + 1."/>
          <p:cNvPicPr preferRelativeResize="0"/>
          <p:nvPr/>
        </p:nvPicPr>
        <p:blipFill>
          <a:blip r:embed="rId4">
            <a:alphaModFix/>
          </a:blip>
          <a:stretch>
            <a:fillRect/>
          </a:stretch>
        </p:blipFill>
        <p:spPr>
          <a:xfrm>
            <a:off x="5624750" y="3458988"/>
            <a:ext cx="1948050" cy="6691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62"/>
          <p:cNvSpPr txBox="1">
            <a:spLocks noGrp="1"/>
          </p:cNvSpPr>
          <p:nvPr>
            <p:ph type="title"/>
          </p:nvPr>
        </p:nvSpPr>
        <p:spPr>
          <a:xfrm>
            <a:off x="592550" y="362700"/>
            <a:ext cx="7692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Aritmética Convolucional: padding</a:t>
            </a:r>
            <a:r>
              <a:rPr lang="es">
                <a:latin typeface="Oswald"/>
                <a:ea typeface="Oswald"/>
                <a:cs typeface="Oswald"/>
                <a:sym typeface="Oswald"/>
              </a:rPr>
              <a:t> &gt; 0</a:t>
            </a:r>
            <a:r>
              <a:rPr lang="es">
                <a:solidFill>
                  <a:srgbClr val="000000"/>
                </a:solidFill>
                <a:latin typeface="Oswald"/>
                <a:ea typeface="Oswald"/>
                <a:cs typeface="Oswald"/>
                <a:sym typeface="Oswald"/>
              </a:rPr>
              <a:t>, stride &gt; 1</a:t>
            </a:r>
            <a:endParaRPr i="1">
              <a:solidFill>
                <a:srgbClr val="000000"/>
              </a:solidFill>
              <a:latin typeface="Oswald"/>
              <a:ea typeface="Oswald"/>
              <a:cs typeface="Oswald"/>
              <a:sym typeface="Oswald"/>
            </a:endParaRPr>
          </a:p>
        </p:txBody>
      </p:sp>
      <p:sp>
        <p:nvSpPr>
          <p:cNvPr id="428" name="Google Shape;428;p62"/>
          <p:cNvSpPr txBox="1"/>
          <p:nvPr/>
        </p:nvSpPr>
        <p:spPr>
          <a:xfrm>
            <a:off x="4987850" y="4301575"/>
            <a:ext cx="3777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a:t>https://theano-pymc.readthedocs.io/en/latest/tutorial/conv_arithmetic.html</a:t>
            </a:r>
            <a:endParaRPr/>
          </a:p>
        </p:txBody>
      </p:sp>
      <p:sp>
        <p:nvSpPr>
          <p:cNvPr id="429" name="Google Shape;429;p62"/>
          <p:cNvSpPr txBox="1"/>
          <p:nvPr/>
        </p:nvSpPr>
        <p:spPr>
          <a:xfrm>
            <a:off x="5235475" y="1287650"/>
            <a:ext cx="3664500" cy="1416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2000"/>
              <a:t>stride = 2</a:t>
            </a:r>
            <a:endParaRPr sz="2000"/>
          </a:p>
          <a:p>
            <a:pPr marL="0" lvl="0" indent="0" algn="l" rtl="0">
              <a:spcBef>
                <a:spcPts val="0"/>
              </a:spcBef>
              <a:spcAft>
                <a:spcPts val="0"/>
              </a:spcAft>
              <a:buNone/>
            </a:pPr>
            <a:r>
              <a:rPr lang="es" sz="2000"/>
              <a:t>zero_padding = 1 </a:t>
            </a:r>
            <a:endParaRPr sz="2000">
              <a:solidFill>
                <a:srgbClr val="FFFFFF"/>
              </a:solidFill>
              <a:highlight>
                <a:srgbClr val="3C78D8"/>
              </a:highlight>
            </a:endParaRPr>
          </a:p>
          <a:p>
            <a:pPr marL="0" lvl="0" indent="0" algn="l" rtl="0">
              <a:spcBef>
                <a:spcPts val="0"/>
              </a:spcBef>
              <a:spcAft>
                <a:spcPts val="0"/>
              </a:spcAft>
              <a:buNone/>
            </a:pPr>
            <a:r>
              <a:rPr lang="es" sz="2000"/>
              <a:t>filter_size = 3</a:t>
            </a:r>
            <a:endParaRPr sz="2000"/>
          </a:p>
          <a:p>
            <a:pPr marL="0" lvl="0" indent="0" algn="l" rtl="0">
              <a:spcBef>
                <a:spcPts val="0"/>
              </a:spcBef>
              <a:spcAft>
                <a:spcPts val="0"/>
              </a:spcAft>
              <a:buNone/>
            </a:pPr>
            <a:r>
              <a:rPr lang="es" sz="2000"/>
              <a:t>input_size = 5</a:t>
            </a:r>
            <a:endParaRPr sz="2000"/>
          </a:p>
        </p:txBody>
      </p:sp>
      <p:sp>
        <p:nvSpPr>
          <p:cNvPr id="430" name="Google Shape;430;p62"/>
          <p:cNvSpPr/>
          <p:nvPr/>
        </p:nvSpPr>
        <p:spPr>
          <a:xfrm>
            <a:off x="3459650" y="3084675"/>
            <a:ext cx="5624700" cy="1252200"/>
          </a:xfrm>
          <a:prstGeom prst="rect">
            <a:avLst/>
          </a:prstGeom>
          <a:solidFill>
            <a:srgbClr val="FFD9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urier New"/>
              <a:ea typeface="Courier New"/>
              <a:cs typeface="Courier New"/>
              <a:sym typeface="Courier New"/>
            </a:endParaRPr>
          </a:p>
        </p:txBody>
      </p:sp>
      <p:pic>
        <p:nvPicPr>
          <p:cNvPr id="431" name="Google Shape;431;p62"/>
          <p:cNvPicPr preferRelativeResize="0"/>
          <p:nvPr/>
        </p:nvPicPr>
        <p:blipFill>
          <a:blip r:embed="rId3">
            <a:alphaModFix/>
          </a:blip>
          <a:stretch>
            <a:fillRect/>
          </a:stretch>
        </p:blipFill>
        <p:spPr>
          <a:xfrm>
            <a:off x="152400" y="1087800"/>
            <a:ext cx="3154850" cy="3043033"/>
          </a:xfrm>
          <a:prstGeom prst="rect">
            <a:avLst/>
          </a:prstGeom>
          <a:noFill/>
          <a:ln>
            <a:noFill/>
          </a:ln>
        </p:spPr>
      </p:pic>
      <p:pic>
        <p:nvPicPr>
          <p:cNvPr id="432" name="Google Shape;432;p62" descr="o = \left\lfloor \frac{i + 2p - k}{s} \right\rfloor + 1."/>
          <p:cNvPicPr preferRelativeResize="0"/>
          <p:nvPr/>
        </p:nvPicPr>
        <p:blipFill>
          <a:blip r:embed="rId4">
            <a:alphaModFix/>
          </a:blip>
          <a:stretch>
            <a:fillRect/>
          </a:stretch>
        </p:blipFill>
        <p:spPr>
          <a:xfrm>
            <a:off x="5235475" y="3458713"/>
            <a:ext cx="2554075" cy="67212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pic>
        <p:nvPicPr>
          <p:cNvPr id="437" name="Google Shape;437;p63"/>
          <p:cNvPicPr preferRelativeResize="0"/>
          <p:nvPr/>
        </p:nvPicPr>
        <p:blipFill>
          <a:blip r:embed="rId3">
            <a:alphaModFix/>
          </a:blip>
          <a:stretch>
            <a:fillRect/>
          </a:stretch>
        </p:blipFill>
        <p:spPr>
          <a:xfrm>
            <a:off x="152400" y="1087800"/>
            <a:ext cx="3517862" cy="3249075"/>
          </a:xfrm>
          <a:prstGeom prst="rect">
            <a:avLst/>
          </a:prstGeom>
          <a:noFill/>
          <a:ln>
            <a:noFill/>
          </a:ln>
        </p:spPr>
      </p:pic>
      <p:sp>
        <p:nvSpPr>
          <p:cNvPr id="438" name="Google Shape;438;p63"/>
          <p:cNvSpPr txBox="1">
            <a:spLocks noGrp="1"/>
          </p:cNvSpPr>
          <p:nvPr>
            <p:ph type="title"/>
          </p:nvPr>
        </p:nvSpPr>
        <p:spPr>
          <a:xfrm>
            <a:off x="592550" y="362700"/>
            <a:ext cx="7692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Aritmética Convolucional: padding</a:t>
            </a:r>
            <a:r>
              <a:rPr lang="es">
                <a:latin typeface="Oswald"/>
                <a:ea typeface="Oswald"/>
                <a:cs typeface="Oswald"/>
                <a:sym typeface="Oswald"/>
              </a:rPr>
              <a:t> &gt; 0</a:t>
            </a:r>
            <a:r>
              <a:rPr lang="es">
                <a:solidFill>
                  <a:srgbClr val="000000"/>
                </a:solidFill>
                <a:latin typeface="Oswald"/>
                <a:ea typeface="Oswald"/>
                <a:cs typeface="Oswald"/>
                <a:sym typeface="Oswald"/>
              </a:rPr>
              <a:t>, stride &gt; 1</a:t>
            </a:r>
            <a:endParaRPr i="1">
              <a:solidFill>
                <a:srgbClr val="000000"/>
              </a:solidFill>
              <a:latin typeface="Oswald"/>
              <a:ea typeface="Oswald"/>
              <a:cs typeface="Oswald"/>
              <a:sym typeface="Oswald"/>
            </a:endParaRPr>
          </a:p>
        </p:txBody>
      </p:sp>
      <p:sp>
        <p:nvSpPr>
          <p:cNvPr id="439" name="Google Shape;439;p63"/>
          <p:cNvSpPr txBox="1"/>
          <p:nvPr/>
        </p:nvSpPr>
        <p:spPr>
          <a:xfrm>
            <a:off x="4987850" y="4301575"/>
            <a:ext cx="3777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a:t>https://theano-pymc.readthedocs.io/en/latest/tutorial/conv_arithmetic.html</a:t>
            </a:r>
            <a:endParaRPr/>
          </a:p>
        </p:txBody>
      </p:sp>
      <p:sp>
        <p:nvSpPr>
          <p:cNvPr id="440" name="Google Shape;440;p63"/>
          <p:cNvSpPr txBox="1"/>
          <p:nvPr/>
        </p:nvSpPr>
        <p:spPr>
          <a:xfrm>
            <a:off x="5235475" y="1287650"/>
            <a:ext cx="3664500" cy="1416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2000"/>
              <a:t>stride = 2</a:t>
            </a:r>
            <a:endParaRPr sz="2000"/>
          </a:p>
          <a:p>
            <a:pPr marL="0" lvl="0" indent="0" algn="l" rtl="0">
              <a:spcBef>
                <a:spcPts val="0"/>
              </a:spcBef>
              <a:spcAft>
                <a:spcPts val="0"/>
              </a:spcAft>
              <a:buNone/>
            </a:pPr>
            <a:r>
              <a:rPr lang="es" sz="2000"/>
              <a:t>zero_padding = 1 </a:t>
            </a:r>
            <a:endParaRPr sz="2000">
              <a:solidFill>
                <a:srgbClr val="FFFFFF"/>
              </a:solidFill>
              <a:highlight>
                <a:srgbClr val="3C78D8"/>
              </a:highlight>
            </a:endParaRPr>
          </a:p>
          <a:p>
            <a:pPr marL="0" lvl="0" indent="0" algn="l" rtl="0">
              <a:spcBef>
                <a:spcPts val="0"/>
              </a:spcBef>
              <a:spcAft>
                <a:spcPts val="0"/>
              </a:spcAft>
              <a:buNone/>
            </a:pPr>
            <a:r>
              <a:rPr lang="es" sz="2000"/>
              <a:t>filter_size = 3</a:t>
            </a:r>
            <a:endParaRPr sz="2000"/>
          </a:p>
          <a:p>
            <a:pPr marL="0" lvl="0" indent="0" algn="l" rtl="0">
              <a:spcBef>
                <a:spcPts val="0"/>
              </a:spcBef>
              <a:spcAft>
                <a:spcPts val="0"/>
              </a:spcAft>
              <a:buNone/>
            </a:pPr>
            <a:r>
              <a:rPr lang="es" sz="2000"/>
              <a:t>input_size = 6</a:t>
            </a:r>
            <a:endParaRPr sz="2000"/>
          </a:p>
        </p:txBody>
      </p:sp>
      <p:sp>
        <p:nvSpPr>
          <p:cNvPr id="441" name="Google Shape;441;p63"/>
          <p:cNvSpPr/>
          <p:nvPr/>
        </p:nvSpPr>
        <p:spPr>
          <a:xfrm>
            <a:off x="3459650" y="3084675"/>
            <a:ext cx="5624700" cy="1252200"/>
          </a:xfrm>
          <a:prstGeom prst="rect">
            <a:avLst/>
          </a:prstGeom>
          <a:solidFill>
            <a:srgbClr val="FFD9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urier New"/>
              <a:ea typeface="Courier New"/>
              <a:cs typeface="Courier New"/>
              <a:sym typeface="Courier New"/>
            </a:endParaRPr>
          </a:p>
        </p:txBody>
      </p:sp>
      <p:pic>
        <p:nvPicPr>
          <p:cNvPr id="442" name="Google Shape;442;p63" descr="o = \left\lfloor \frac{i + 2p - k}{s} \right\rfloor + 1."/>
          <p:cNvPicPr preferRelativeResize="0"/>
          <p:nvPr/>
        </p:nvPicPr>
        <p:blipFill>
          <a:blip r:embed="rId4">
            <a:alphaModFix/>
          </a:blip>
          <a:stretch>
            <a:fillRect/>
          </a:stretch>
        </p:blipFill>
        <p:spPr>
          <a:xfrm>
            <a:off x="5235475" y="3458713"/>
            <a:ext cx="2554075" cy="6721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64"/>
          <p:cNvSpPr txBox="1">
            <a:spLocks noGrp="1"/>
          </p:cNvSpPr>
          <p:nvPr>
            <p:ph type="title"/>
          </p:nvPr>
        </p:nvSpPr>
        <p:spPr>
          <a:xfrm>
            <a:off x="592550" y="362700"/>
            <a:ext cx="7692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Aritmética Convolucional: Dilated (atrous) Convolutions</a:t>
            </a:r>
            <a:endParaRPr i="1">
              <a:solidFill>
                <a:srgbClr val="000000"/>
              </a:solidFill>
              <a:latin typeface="Oswald"/>
              <a:ea typeface="Oswald"/>
              <a:cs typeface="Oswald"/>
              <a:sym typeface="Oswald"/>
            </a:endParaRPr>
          </a:p>
        </p:txBody>
      </p:sp>
      <p:sp>
        <p:nvSpPr>
          <p:cNvPr id="448" name="Google Shape;448;p64"/>
          <p:cNvSpPr txBox="1"/>
          <p:nvPr/>
        </p:nvSpPr>
        <p:spPr>
          <a:xfrm>
            <a:off x="4987850" y="4301575"/>
            <a:ext cx="3777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a:t>https://theano-pymc.readthedocs.io/en/latest/tutorial/conv_arithmetic.html</a:t>
            </a:r>
            <a:endParaRPr/>
          </a:p>
        </p:txBody>
      </p:sp>
      <p:sp>
        <p:nvSpPr>
          <p:cNvPr id="449" name="Google Shape;449;p64"/>
          <p:cNvSpPr txBox="1"/>
          <p:nvPr/>
        </p:nvSpPr>
        <p:spPr>
          <a:xfrm>
            <a:off x="5214250" y="1148138"/>
            <a:ext cx="3664500" cy="1723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2000"/>
              <a:t>stride = 1</a:t>
            </a:r>
            <a:endParaRPr sz="2000"/>
          </a:p>
          <a:p>
            <a:pPr marL="0" lvl="0" indent="0" algn="l" rtl="0">
              <a:spcBef>
                <a:spcPts val="0"/>
              </a:spcBef>
              <a:spcAft>
                <a:spcPts val="0"/>
              </a:spcAft>
              <a:buNone/>
            </a:pPr>
            <a:r>
              <a:rPr lang="es" sz="2000"/>
              <a:t>zero_padding = 0</a:t>
            </a:r>
            <a:endParaRPr sz="2000"/>
          </a:p>
          <a:p>
            <a:pPr marL="0" lvl="0" indent="0" algn="l" rtl="0">
              <a:spcBef>
                <a:spcPts val="0"/>
              </a:spcBef>
              <a:spcAft>
                <a:spcPts val="0"/>
              </a:spcAft>
              <a:buNone/>
            </a:pPr>
            <a:r>
              <a:rPr lang="es" sz="2000"/>
              <a:t>dilation = 2 </a:t>
            </a:r>
            <a:endParaRPr sz="2000">
              <a:solidFill>
                <a:srgbClr val="FFFFFF"/>
              </a:solidFill>
              <a:highlight>
                <a:srgbClr val="3C78D8"/>
              </a:highlight>
            </a:endParaRPr>
          </a:p>
          <a:p>
            <a:pPr marL="0" lvl="0" indent="0" algn="l" rtl="0">
              <a:spcBef>
                <a:spcPts val="0"/>
              </a:spcBef>
              <a:spcAft>
                <a:spcPts val="0"/>
              </a:spcAft>
              <a:buNone/>
            </a:pPr>
            <a:r>
              <a:rPr lang="es" sz="2000"/>
              <a:t>filter_size = 3</a:t>
            </a:r>
            <a:endParaRPr sz="2000"/>
          </a:p>
          <a:p>
            <a:pPr marL="0" lvl="0" indent="0" algn="l" rtl="0">
              <a:spcBef>
                <a:spcPts val="0"/>
              </a:spcBef>
              <a:spcAft>
                <a:spcPts val="0"/>
              </a:spcAft>
              <a:buNone/>
            </a:pPr>
            <a:r>
              <a:rPr lang="es" sz="2000"/>
              <a:t>input_size = 7</a:t>
            </a:r>
            <a:endParaRPr sz="2000"/>
          </a:p>
        </p:txBody>
      </p:sp>
      <p:sp>
        <p:nvSpPr>
          <p:cNvPr id="450" name="Google Shape;450;p64"/>
          <p:cNvSpPr/>
          <p:nvPr/>
        </p:nvSpPr>
        <p:spPr>
          <a:xfrm>
            <a:off x="3459650" y="3084675"/>
            <a:ext cx="5624700" cy="1252200"/>
          </a:xfrm>
          <a:prstGeom prst="rect">
            <a:avLst/>
          </a:prstGeom>
          <a:solidFill>
            <a:srgbClr val="FFD9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urier New"/>
              <a:ea typeface="Courier New"/>
              <a:cs typeface="Courier New"/>
              <a:sym typeface="Courier New"/>
            </a:endParaRPr>
          </a:p>
        </p:txBody>
      </p:sp>
      <p:pic>
        <p:nvPicPr>
          <p:cNvPr id="451" name="Google Shape;451;p64"/>
          <p:cNvPicPr preferRelativeResize="0"/>
          <p:nvPr/>
        </p:nvPicPr>
        <p:blipFill>
          <a:blip r:embed="rId3">
            <a:alphaModFix/>
          </a:blip>
          <a:stretch>
            <a:fillRect/>
          </a:stretch>
        </p:blipFill>
        <p:spPr>
          <a:xfrm>
            <a:off x="152400" y="1087800"/>
            <a:ext cx="3154850" cy="3043033"/>
          </a:xfrm>
          <a:prstGeom prst="rect">
            <a:avLst/>
          </a:prstGeom>
          <a:noFill/>
          <a:ln>
            <a:noFill/>
          </a:ln>
        </p:spPr>
      </p:pic>
      <p:pic>
        <p:nvPicPr>
          <p:cNvPr id="452" name="Google Shape;452;p64" descr="o = \left\lfloor \frac{i + 2p - k - (k - 1)(d - 1)}{s} \right\rfloor + 1."/>
          <p:cNvPicPr preferRelativeResize="0"/>
          <p:nvPr/>
        </p:nvPicPr>
        <p:blipFill>
          <a:blip r:embed="rId4">
            <a:alphaModFix/>
          </a:blip>
          <a:stretch>
            <a:fillRect/>
          </a:stretch>
        </p:blipFill>
        <p:spPr>
          <a:xfrm>
            <a:off x="3753150" y="3373800"/>
            <a:ext cx="5097300" cy="7570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65"/>
          <p:cNvSpPr txBox="1">
            <a:spLocks noGrp="1"/>
          </p:cNvSpPr>
          <p:nvPr>
            <p:ph type="title"/>
          </p:nvPr>
        </p:nvSpPr>
        <p:spPr>
          <a:xfrm>
            <a:off x="592550" y="362700"/>
            <a:ext cx="7692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Aritmética Convolucional: Dilated (atrous) Convolutions</a:t>
            </a:r>
            <a:endParaRPr i="1">
              <a:solidFill>
                <a:srgbClr val="000000"/>
              </a:solidFill>
              <a:latin typeface="Oswald"/>
              <a:ea typeface="Oswald"/>
              <a:cs typeface="Oswald"/>
              <a:sym typeface="Oswald"/>
            </a:endParaRPr>
          </a:p>
        </p:txBody>
      </p:sp>
      <p:pic>
        <p:nvPicPr>
          <p:cNvPr id="458" name="Google Shape;458;p65"/>
          <p:cNvPicPr preferRelativeResize="0"/>
          <p:nvPr/>
        </p:nvPicPr>
        <p:blipFill>
          <a:blip r:embed="rId3">
            <a:alphaModFix/>
          </a:blip>
          <a:stretch>
            <a:fillRect/>
          </a:stretch>
        </p:blipFill>
        <p:spPr>
          <a:xfrm>
            <a:off x="1595488" y="1243450"/>
            <a:ext cx="5686425" cy="2905125"/>
          </a:xfrm>
          <a:prstGeom prst="rect">
            <a:avLst/>
          </a:prstGeom>
          <a:noFill/>
          <a:ln>
            <a:noFill/>
          </a:ln>
        </p:spPr>
      </p:pic>
      <p:sp>
        <p:nvSpPr>
          <p:cNvPr id="459" name="Google Shape;459;p65"/>
          <p:cNvSpPr txBox="1"/>
          <p:nvPr/>
        </p:nvSpPr>
        <p:spPr>
          <a:xfrm>
            <a:off x="4506750" y="4456625"/>
            <a:ext cx="43653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000">
                <a:solidFill>
                  <a:srgbClr val="222222"/>
                </a:solidFill>
                <a:highlight>
                  <a:srgbClr val="FFFFFF"/>
                </a:highlight>
              </a:rPr>
              <a:t>Yu, F., &amp; Koltun, V. (2015). Multi-scale context aggregation by dilated convolutions. </a:t>
            </a:r>
            <a:r>
              <a:rPr lang="es" sz="1000" i="1">
                <a:solidFill>
                  <a:srgbClr val="222222"/>
                </a:solidFill>
                <a:highlight>
                  <a:srgbClr val="FFFFFF"/>
                </a:highlight>
              </a:rPr>
              <a:t>arXiv preprint arXiv:1511.07122</a:t>
            </a:r>
            <a:r>
              <a:rPr lang="es" sz="1000">
                <a:solidFill>
                  <a:srgbClr val="222222"/>
                </a:solidFill>
                <a:highlight>
                  <a:srgbClr val="FFFFFF"/>
                </a:highlight>
              </a:rPr>
              <a:t>.</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66"/>
          <p:cNvSpPr txBox="1">
            <a:spLocks noGrp="1"/>
          </p:cNvSpPr>
          <p:nvPr>
            <p:ph type="title"/>
          </p:nvPr>
        </p:nvSpPr>
        <p:spPr>
          <a:xfrm>
            <a:off x="592550" y="362700"/>
            <a:ext cx="7692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Aritmética Convolucional: Generalizable</a:t>
            </a:r>
            <a:endParaRPr i="1">
              <a:solidFill>
                <a:srgbClr val="000000"/>
              </a:solidFill>
              <a:latin typeface="Oswald"/>
              <a:ea typeface="Oswald"/>
              <a:cs typeface="Oswald"/>
              <a:sym typeface="Oswald"/>
            </a:endParaRPr>
          </a:p>
        </p:txBody>
      </p:sp>
      <p:pic>
        <p:nvPicPr>
          <p:cNvPr id="465" name="Google Shape;465;p66"/>
          <p:cNvPicPr preferRelativeResize="0"/>
          <p:nvPr/>
        </p:nvPicPr>
        <p:blipFill>
          <a:blip r:embed="rId3">
            <a:alphaModFix/>
          </a:blip>
          <a:stretch>
            <a:fillRect/>
          </a:stretch>
        </p:blipFill>
        <p:spPr>
          <a:xfrm>
            <a:off x="2533700" y="1604250"/>
            <a:ext cx="3810000" cy="2038350"/>
          </a:xfrm>
          <a:prstGeom prst="rect">
            <a:avLst/>
          </a:prstGeom>
          <a:noFill/>
          <a:ln>
            <a:noFill/>
          </a:ln>
        </p:spPr>
      </p:pic>
      <p:sp>
        <p:nvSpPr>
          <p:cNvPr id="466" name="Google Shape;466;p66"/>
          <p:cNvSpPr txBox="1"/>
          <p:nvPr/>
        </p:nvSpPr>
        <p:spPr>
          <a:xfrm>
            <a:off x="6240125" y="4308650"/>
            <a:ext cx="26178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u="sng">
                <a:solidFill>
                  <a:schemeClr val="hlink"/>
                </a:solidFill>
                <a:hlinkClick r:id="rId4"/>
              </a:rPr>
              <a:t>https://www.kaggle.com/shivamb/3d-convolutions-understanding-use-case</a:t>
            </a:r>
            <a:r>
              <a:rPr lang="es"/>
              <a:t>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67"/>
          <p:cNvSpPr txBox="1">
            <a:spLocks noGrp="1"/>
          </p:cNvSpPr>
          <p:nvPr>
            <p:ph type="title"/>
          </p:nvPr>
        </p:nvSpPr>
        <p:spPr>
          <a:xfrm>
            <a:off x="592550" y="362700"/>
            <a:ext cx="7692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rgbClr val="000000"/>
                </a:solidFill>
                <a:latin typeface="Oswald"/>
                <a:ea typeface="Oswald"/>
                <a:cs typeface="Oswald"/>
                <a:sym typeface="Oswald"/>
              </a:rPr>
              <a:t>Aritmética Convolucional: 3x3 kernel aplicado a una imagen de 5x5 con zero padding = 1 y strides 2x2</a:t>
            </a:r>
            <a:endParaRPr i="1">
              <a:solidFill>
                <a:srgbClr val="000000"/>
              </a:solidFill>
              <a:latin typeface="Oswald"/>
              <a:ea typeface="Oswald"/>
              <a:cs typeface="Oswald"/>
              <a:sym typeface="Oswald"/>
            </a:endParaRPr>
          </a:p>
        </p:txBody>
      </p:sp>
      <p:sp>
        <p:nvSpPr>
          <p:cNvPr id="472" name="Google Shape;472;p67"/>
          <p:cNvSpPr txBox="1"/>
          <p:nvPr/>
        </p:nvSpPr>
        <p:spPr>
          <a:xfrm>
            <a:off x="1323025" y="1167375"/>
            <a:ext cx="4775700" cy="173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pic>
        <p:nvPicPr>
          <p:cNvPr id="473" name="Google Shape;473;p67"/>
          <p:cNvPicPr preferRelativeResize="0"/>
          <p:nvPr/>
        </p:nvPicPr>
        <p:blipFill>
          <a:blip r:embed="rId3">
            <a:alphaModFix/>
          </a:blip>
          <a:stretch>
            <a:fillRect/>
          </a:stretch>
        </p:blipFill>
        <p:spPr>
          <a:xfrm>
            <a:off x="2657713" y="1425950"/>
            <a:ext cx="3561975" cy="2500575"/>
          </a:xfrm>
          <a:prstGeom prst="rect">
            <a:avLst/>
          </a:prstGeom>
          <a:noFill/>
          <a:ln>
            <a:noFill/>
          </a:ln>
        </p:spPr>
      </p:pic>
      <p:sp>
        <p:nvSpPr>
          <p:cNvPr id="474" name="Google Shape;474;p67"/>
          <p:cNvSpPr txBox="1"/>
          <p:nvPr/>
        </p:nvSpPr>
        <p:spPr>
          <a:xfrm>
            <a:off x="4987850" y="4301575"/>
            <a:ext cx="3777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a:t>https://theano-pymc.readthedocs.io/en/latest/tutorial/conv_arithmetic.html</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1730</Words>
  <Application>Microsoft Macintosh PowerPoint</Application>
  <PresentationFormat>Presentación en pantalla (16:9)</PresentationFormat>
  <Paragraphs>181</Paragraphs>
  <Slides>42</Slides>
  <Notes>42</Notes>
  <HiddenSlides>0</HiddenSlides>
  <MMClips>0</MMClips>
  <ScaleCrop>false</ScaleCrop>
  <HeadingPairs>
    <vt:vector size="6" baseType="variant">
      <vt:variant>
        <vt:lpstr>Fuentes usadas</vt:lpstr>
      </vt:variant>
      <vt:variant>
        <vt:i4>3</vt:i4>
      </vt:variant>
      <vt:variant>
        <vt:lpstr>Tema</vt:lpstr>
      </vt:variant>
      <vt:variant>
        <vt:i4>2</vt:i4>
      </vt:variant>
      <vt:variant>
        <vt:lpstr>Títulos de diapositiva</vt:lpstr>
      </vt:variant>
      <vt:variant>
        <vt:i4>42</vt:i4>
      </vt:variant>
    </vt:vector>
  </HeadingPairs>
  <TitlesOfParts>
    <vt:vector size="47" baseType="lpstr">
      <vt:lpstr>Courier New</vt:lpstr>
      <vt:lpstr>Oswald</vt:lpstr>
      <vt:lpstr>Arial</vt:lpstr>
      <vt:lpstr>Simple Light</vt:lpstr>
      <vt:lpstr>Simple Light</vt:lpstr>
      <vt:lpstr>Presentación de PowerPoint</vt:lpstr>
      <vt:lpstr>Lectura Recomendada</vt:lpstr>
      <vt:lpstr>Datasets de clasificación: número de pixels de entrenamiento</vt:lpstr>
      <vt:lpstr>Datasets de clasificación: MNIST</vt:lpstr>
      <vt:lpstr>Datasets de clasificación: CIFAR-10</vt:lpstr>
      <vt:lpstr>Datasets de clasificación: CIFAR-100</vt:lpstr>
      <vt:lpstr>Datasets de clasificación: ImageNet</vt:lpstr>
      <vt:lpstr>Datasets de clasificación: ImageNet</vt:lpstr>
      <vt:lpstr>Datasets de clasificación: MIT Places</vt:lpstr>
      <vt:lpstr>Datasets de clasificación: Omniglot</vt:lpstr>
      <vt:lpstr>Arquitecturas Convolucionales para clasificación</vt:lpstr>
      <vt:lpstr>ImageNet</vt:lpstr>
      <vt:lpstr>ILSVRC: Profundidad vs.  Error</vt:lpstr>
      <vt:lpstr>Redes y Cantidad de Operaciones</vt:lpstr>
      <vt:lpstr>Redes y Cantidad de Operaciones</vt:lpstr>
      <vt:lpstr>Redes y Cantidad de Operaciones</vt:lpstr>
      <vt:lpstr>Redes y Cantidad de Operaciones</vt:lpstr>
      <vt:lpstr>Redes y Cantidad de Operaciones</vt:lpstr>
      <vt:lpstr>AlexNet</vt:lpstr>
      <vt:lpstr>VGG-16 y VGG-19 (2015)</vt:lpstr>
      <vt:lpstr>VGG-19</vt:lpstr>
      <vt:lpstr>VGG / Ablation Study</vt:lpstr>
      <vt:lpstr>Funciones de Activación</vt:lpstr>
      <vt:lpstr>Funciones de Activación</vt:lpstr>
      <vt:lpstr>Normalización</vt:lpstr>
      <vt:lpstr>Normalización: Batch</vt:lpstr>
      <vt:lpstr>Normalización: Batch</vt:lpstr>
      <vt:lpstr>Normalización: Instance</vt:lpstr>
      <vt:lpstr>Normalización: Group</vt:lpstr>
      <vt:lpstr>Aritmética Convolucional: Convolución Discreta</vt:lpstr>
      <vt:lpstr>Aritmética Convolucional: Convolución Discreta</vt:lpstr>
      <vt:lpstr>Aritmética Convolucional: Zero Padding</vt:lpstr>
      <vt:lpstr>Aritmética Convolucional: padding = ‘same’</vt:lpstr>
      <vt:lpstr>Aritmética Convolucional: padding = ‘same’</vt:lpstr>
      <vt:lpstr>Aritmética Convolucional: Full Padding</vt:lpstr>
      <vt:lpstr>Aritmética Convolucional: No-Padding, stride &gt; 1</vt:lpstr>
      <vt:lpstr>Aritmética Convolucional: padding &gt; 0, stride &gt; 1</vt:lpstr>
      <vt:lpstr>Aritmética Convolucional: padding &gt; 0, stride &gt; 1</vt:lpstr>
      <vt:lpstr>Aritmética Convolucional: Dilated (atrous) Convolutions</vt:lpstr>
      <vt:lpstr>Aritmética Convolucional: Dilated (atrous) Convolutions</vt:lpstr>
      <vt:lpstr>Aritmética Convolucional: Generalizable</vt:lpstr>
      <vt:lpstr>Aritmética Convolucional: 3x3 kernel aplicado a una imagen de 5x5 con zero padding = 1 y strides 2x2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Universidad Peruana de Ciencias Aplicadas  Escuela de Ingeniería de Sistemas y Computación Carrera de Ciencias de la Computación  CC53 Procesamiento de Imágenes</dc:title>
  <cp:lastModifiedBy> </cp:lastModifiedBy>
  <cp:revision>3</cp:revision>
  <dcterms:modified xsi:type="dcterms:W3CDTF">2024-09-26T22:46:35Z</dcterms:modified>
</cp:coreProperties>
</file>