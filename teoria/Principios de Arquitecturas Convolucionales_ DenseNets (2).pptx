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5143500" type="screen16x9"/>
  <p:notesSz cx="6858000" cy="9144000"/>
  <p:embeddedFontLst>
    <p:embeddedFont>
      <p:font typeface="Georgia" panose="02040502050405020303" pitchFamily="18" charset="0"/>
      <p:regular r:id="rId32"/>
      <p:bold r:id="rId33"/>
      <p:italic r:id="rId34"/>
      <p:boldItalic r:id="rId35"/>
    </p:embeddedFont>
    <p:embeddedFont>
      <p:font typeface="Oswald" pitchFamily="2" charset="77"/>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iTaUREmsKYVn0ggPbnmgEidpD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56" d="100"/>
          <a:sy n="156" d="100"/>
        </p:scale>
        <p:origin x="504"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3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3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50"/>
        <p:cNvGrpSpPr/>
        <p:nvPr/>
      </p:nvGrpSpPr>
      <p:grpSpPr>
        <a:xfrm>
          <a:off x="0" y="0"/>
          <a:ext cx="0" cy="0"/>
          <a:chOff x="0" y="0"/>
          <a:chExt cx="0" cy="0"/>
        </a:xfrm>
      </p:grpSpPr>
      <p:sp>
        <p:nvSpPr>
          <p:cNvPr id="51" name="Google Shape;51;p4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4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53" name="Google Shape;53;p4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 name="Google Shape;54;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5" name="Google Shape;55;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4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2" name="Google Shape;62;p4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4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6" name="Google Shape;66;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9" name="Google Shape;69;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70" name="Google Shape;70;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4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4" name="Google Shape;74;p4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5" name="Google Shape;75;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4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1" name="Google Shape;81;p4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2" name="Google Shape;82;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4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5" name="Google Shape;85;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5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5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9" name="Google Shape;89;p5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p5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1" name="Google Shape;91;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5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4" name="Google Shape;94;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5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7" name="Google Shape;97;p5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8" name="Google Shape;9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8" name="Google Shape;58;p4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9" name="Google Shape;5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2l.ai/chapter_convolutional-modern/densenet.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arxiv.org/pdf/1608.06993v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ulurciello.medium.com/analysis-of-deep-neural-networks-dcf398e71aa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ulurciello.medium.com/analysis-of-deep-neural-networks-dcf398e71aa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6" name="Google Shape;106;p1"/>
          <p:cNvSpPr txBox="1">
            <a:spLocks noGrp="1"/>
          </p:cNvSpPr>
          <p:nvPr>
            <p:ph type="subTitle" idx="1"/>
          </p:nvPr>
        </p:nvSpPr>
        <p:spPr>
          <a:xfrm>
            <a:off x="311700" y="3123100"/>
            <a:ext cx="8520600" cy="81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dirty="0">
                <a:solidFill>
                  <a:srgbClr val="000000"/>
                </a:solidFill>
                <a:latin typeface="Oswald"/>
                <a:ea typeface="Oswald"/>
                <a:cs typeface="Oswald"/>
                <a:sym typeface="Oswald"/>
              </a:rPr>
              <a:t>Principios de Arquitecturas Convolucionales: DenseNets</a:t>
            </a:r>
            <a:endParaRPr dirty="0">
              <a:solidFill>
                <a:srgbClr val="000000"/>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2</a:t>
            </a:fld>
            <a:endParaRPr/>
          </a:p>
        </p:txBody>
      </p:sp>
      <p:sp>
        <p:nvSpPr>
          <p:cNvPr id="112" name="Google Shape;112;p2"/>
          <p:cNvSpPr txBox="1"/>
          <p:nvPr/>
        </p:nvSpPr>
        <p:spPr>
          <a:xfrm>
            <a:off x="592550" y="1731200"/>
            <a:ext cx="4740600" cy="2164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 sz="2400" b="1" i="0" u="none" strike="noStrike" cap="none">
                <a:solidFill>
                  <a:srgbClr val="313131"/>
                </a:solidFill>
                <a:latin typeface="Courier New"/>
                <a:ea typeface="Courier New"/>
                <a:cs typeface="Courier New"/>
                <a:sym typeface="Courier New"/>
              </a:rPr>
              <a:t>Dive into Deep Learning</a:t>
            </a:r>
            <a:endParaRPr sz="2400" b="1"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rgbClr val="313131"/>
                </a:solidFill>
                <a:latin typeface="Courier New"/>
                <a:ea typeface="Courier New"/>
                <a:cs typeface="Courier New"/>
                <a:sym typeface="Courier New"/>
              </a:rPr>
              <a:t>Aston Zhang, Zachary C. Lipton, Mu Li, and Alexander J. Smola</a:t>
            </a:r>
            <a:endParaRPr sz="16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 sz="1600" b="0" i="0" u="sng" strike="noStrike" cap="none">
                <a:solidFill>
                  <a:schemeClr val="hlink"/>
                </a:solidFill>
                <a:latin typeface="Courier New"/>
                <a:ea typeface="Courier New"/>
                <a:cs typeface="Courier New"/>
                <a:sym typeface="Courier New"/>
                <a:hlinkClick r:id="rId3"/>
              </a:rPr>
              <a:t>https://d2l.ai/chapter_convolutional-modern/densenet.html</a:t>
            </a:r>
            <a:r>
              <a:rPr lang="es" sz="1600" b="0" i="0" u="none" strike="noStrike" cap="none">
                <a:solidFill>
                  <a:srgbClr val="313131"/>
                </a:solidFill>
                <a:latin typeface="Courier New"/>
                <a:ea typeface="Courier New"/>
                <a:cs typeface="Courier New"/>
                <a:sym typeface="Courier New"/>
              </a:rPr>
              <a:t> </a:t>
            </a:r>
            <a:endParaRPr sz="16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13131"/>
              </a:solidFill>
              <a:latin typeface="Courier New"/>
              <a:ea typeface="Courier New"/>
              <a:cs typeface="Courier New"/>
              <a:sym typeface="Courier New"/>
            </a:endParaRPr>
          </a:p>
          <a:p>
            <a:pPr marL="190500" marR="190500" lvl="0" indent="0" algn="l" rtl="0">
              <a:lnSpc>
                <a:spcPct val="142000"/>
              </a:lnSpc>
              <a:spcBef>
                <a:spcPts val="0"/>
              </a:spcBef>
              <a:spcAft>
                <a:spcPts val="0"/>
              </a:spcAft>
              <a:buClr>
                <a:schemeClr val="dk1"/>
              </a:buClr>
              <a:buSzPts val="1100"/>
              <a:buFont typeface="Arial"/>
              <a:buNone/>
            </a:pPr>
            <a:endParaRPr sz="11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3" name="Google Shape;113;p2"/>
          <p:cNvPicPr preferRelativeResize="0"/>
          <p:nvPr/>
        </p:nvPicPr>
        <p:blipFill rotWithShape="1">
          <a:blip r:embed="rId4">
            <a:alphaModFix/>
          </a:blip>
          <a:srcRect/>
          <a:stretch/>
        </p:blipFill>
        <p:spPr>
          <a:xfrm>
            <a:off x="5470175" y="267575"/>
            <a:ext cx="3454045" cy="4358416"/>
          </a:xfrm>
          <a:prstGeom prst="rect">
            <a:avLst/>
          </a:prstGeom>
          <a:noFill/>
          <a:ln>
            <a:noFill/>
          </a:ln>
        </p:spPr>
      </p:pic>
      <p:sp>
        <p:nvSpPr>
          <p:cNvPr id="114" name="Google Shape;114;p2"/>
          <p:cNvSpPr txBox="1">
            <a:spLocks noGrp="1"/>
          </p:cNvSpPr>
          <p:nvPr>
            <p:ph type="title"/>
          </p:nvPr>
        </p:nvSpPr>
        <p:spPr>
          <a:xfrm>
            <a:off x="561500" y="660575"/>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Lectura Recomendada</a:t>
            </a:r>
            <a:endParaRPr i="1">
              <a:solidFill>
                <a:srgbClr val="000000"/>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561500" y="660575"/>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Lectura Recomendada</a:t>
            </a:r>
            <a:endParaRPr i="1">
              <a:solidFill>
                <a:srgbClr val="000000"/>
              </a:solidFill>
              <a:latin typeface="Oswald"/>
              <a:ea typeface="Oswald"/>
              <a:cs typeface="Oswald"/>
              <a:sym typeface="Oswald"/>
            </a:endParaRPr>
          </a:p>
        </p:txBody>
      </p:sp>
      <p:sp>
        <p:nvSpPr>
          <p:cNvPr id="120" name="Google Shape;1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3</a:t>
            </a:fld>
            <a:endParaRPr/>
          </a:p>
        </p:txBody>
      </p:sp>
      <p:sp>
        <p:nvSpPr>
          <p:cNvPr id="121" name="Google Shape;121;p3"/>
          <p:cNvSpPr txBox="1"/>
          <p:nvPr/>
        </p:nvSpPr>
        <p:spPr>
          <a:xfrm>
            <a:off x="561500" y="1648400"/>
            <a:ext cx="4927200" cy="228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 sz="2400" b="1" i="0" u="none" strike="noStrike" cap="none">
                <a:solidFill>
                  <a:srgbClr val="313131"/>
                </a:solidFill>
                <a:latin typeface="Courier New"/>
                <a:ea typeface="Courier New"/>
                <a:cs typeface="Courier New"/>
                <a:sym typeface="Courier New"/>
              </a:rPr>
              <a:t>Densely Connected Convolutional Networks</a:t>
            </a:r>
            <a:endParaRPr sz="2400" b="1"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dk1"/>
              </a:buClr>
              <a:buSzPts val="1100"/>
              <a:buFont typeface="Arial"/>
              <a:buNone/>
            </a:pPr>
            <a:r>
              <a:rPr lang="es" sz="1600" b="0" i="0" u="none" strike="noStrike" cap="none">
                <a:solidFill>
                  <a:srgbClr val="313131"/>
                </a:solidFill>
                <a:latin typeface="Courier New"/>
                <a:ea typeface="Courier New"/>
                <a:cs typeface="Courier New"/>
                <a:sym typeface="Courier New"/>
              </a:rPr>
              <a:t>Huang, G., Liu, Z., Van Der Maaten, L., &amp; Weinberger, K. Q.</a:t>
            </a:r>
            <a:endParaRPr sz="16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 sz="1600" b="0" i="0" u="sng" strike="noStrike" cap="none">
                <a:solidFill>
                  <a:schemeClr val="hlink"/>
                </a:solidFill>
                <a:latin typeface="Courier New"/>
                <a:ea typeface="Courier New"/>
                <a:cs typeface="Courier New"/>
                <a:sym typeface="Courier New"/>
                <a:hlinkClick r:id="rId3"/>
              </a:rPr>
              <a:t>https://arxiv.org/pdf/1608.06993v3.pdf</a:t>
            </a:r>
            <a:r>
              <a:rPr lang="es" sz="1600" b="0" i="0" u="none" strike="noStrike" cap="none">
                <a:solidFill>
                  <a:srgbClr val="313131"/>
                </a:solidFill>
                <a:latin typeface="Courier New"/>
                <a:ea typeface="Courier New"/>
                <a:cs typeface="Courier New"/>
                <a:sym typeface="Courier New"/>
              </a:rPr>
              <a:t> </a:t>
            </a:r>
            <a:endParaRPr sz="16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13131"/>
              </a:solidFill>
              <a:latin typeface="Courier New"/>
              <a:ea typeface="Courier New"/>
              <a:cs typeface="Courier New"/>
              <a:sym typeface="Courier New"/>
            </a:endParaRPr>
          </a:p>
          <a:p>
            <a:pPr marL="190500" marR="190500" lvl="0" indent="0" algn="l" rtl="0">
              <a:lnSpc>
                <a:spcPct val="142000"/>
              </a:lnSpc>
              <a:spcBef>
                <a:spcPts val="0"/>
              </a:spcBef>
              <a:spcAft>
                <a:spcPts val="0"/>
              </a:spcAft>
              <a:buClr>
                <a:schemeClr val="dk1"/>
              </a:buClr>
              <a:buSzPts val="1100"/>
              <a:buFont typeface="Arial"/>
              <a:buNone/>
            </a:pPr>
            <a:endParaRPr sz="1100" b="0" i="0" u="none" strike="noStrike" cap="none">
              <a:solidFill>
                <a:srgbClr val="31313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2" name="Google Shape;122;p3"/>
          <p:cNvPicPr preferRelativeResize="0"/>
          <p:nvPr/>
        </p:nvPicPr>
        <p:blipFill rotWithShape="1">
          <a:blip r:embed="rId4">
            <a:alphaModFix/>
          </a:blip>
          <a:srcRect/>
          <a:stretch/>
        </p:blipFill>
        <p:spPr>
          <a:xfrm rot="354473">
            <a:off x="5577825" y="909499"/>
            <a:ext cx="3100634" cy="3603726"/>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592550" y="362700"/>
            <a:ext cx="7664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128" name="Google Shape;12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4</a:t>
            </a:fld>
            <a:endParaRPr/>
          </a:p>
        </p:txBody>
      </p:sp>
      <p:sp>
        <p:nvSpPr>
          <p:cNvPr id="129" name="Google Shape;129;p4"/>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pic>
        <p:nvPicPr>
          <p:cNvPr id="130" name="Google Shape;130;p4"/>
          <p:cNvPicPr preferRelativeResize="0"/>
          <p:nvPr/>
        </p:nvPicPr>
        <p:blipFill rotWithShape="1">
          <a:blip r:embed="rId3">
            <a:alphaModFix/>
          </a:blip>
          <a:srcRect/>
          <a:stretch/>
        </p:blipFill>
        <p:spPr>
          <a:xfrm>
            <a:off x="1805350" y="935388"/>
            <a:ext cx="5120405" cy="3423363"/>
          </a:xfrm>
          <a:prstGeom prst="rect">
            <a:avLst/>
          </a:prstGeom>
          <a:noFill/>
          <a:ln>
            <a:noFill/>
          </a:ln>
        </p:spPr>
      </p:pic>
      <p:sp>
        <p:nvSpPr>
          <p:cNvPr id="131" name="Google Shape;131;p4"/>
          <p:cNvSpPr txBox="1"/>
          <p:nvPr/>
        </p:nvSpPr>
        <p:spPr>
          <a:xfrm>
            <a:off x="287750" y="4502725"/>
            <a:ext cx="82743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sng" strike="noStrike" cap="none">
                <a:solidFill>
                  <a:schemeClr val="accent5"/>
                </a:solidFill>
                <a:latin typeface="Arial"/>
                <a:ea typeface="Arial"/>
                <a:cs typeface="Arial"/>
                <a:sym typeface="Arial"/>
                <a:hlinkClick r:id="rId4">
                  <a:extLst>
                    <a:ext uri="{A12FA001-AC4F-418D-AE19-62706E023703}">
                      <ahyp:hlinkClr xmlns:ahyp="http://schemas.microsoft.com/office/drawing/2018/hyperlinkcolor" val="tx"/>
                    </a:ext>
                  </a:extLst>
                </a:hlinkClick>
              </a:rPr>
              <a:t>https://culurciello.medium.com/analysis-of-deep-neural-networks-dcf398e71aae</a:t>
            </a:r>
            <a:r>
              <a:rPr lang="es" sz="900" b="0" i="0" u="none" strike="noStrike" cap="none">
                <a:solidFill>
                  <a:schemeClr val="dk1"/>
                </a:solidFill>
                <a:latin typeface="Arial"/>
                <a:ea typeface="Arial"/>
                <a:cs typeface="Arial"/>
                <a:sym typeface="Arial"/>
              </a:rPr>
              <a:t> </a:t>
            </a:r>
            <a:r>
              <a:rPr lang="es" sz="750" b="0" i="0" u="none" strike="noStrike" cap="none">
                <a:solidFill>
                  <a:srgbClr val="757575"/>
                </a:solidFill>
                <a:highlight>
                  <a:srgbClr val="FFFFFF"/>
                </a:highlight>
                <a:latin typeface="Arial"/>
                <a:ea typeface="Arial"/>
                <a:cs typeface="Arial"/>
                <a:sym typeface="Arial"/>
              </a:rPr>
              <a:t> updated Figure 2: Top1 vs. operations, size ∝ parameters. Top-1 one-crop accuracy versus amount of operations required for a single forward pass. The size of the blobs is proportional to the number of network parameters; a legend is reported in the bottom right corner, spanning from 5×10^6 to 155×10^6 params. Both these figures share the same y-axis, and the grey dots highlight the centre of the blobs.</a:t>
            </a:r>
            <a:endParaRPr sz="1100" b="0" i="0" u="none" strike="noStrike" cap="none">
              <a:solidFill>
                <a:srgbClr val="000000"/>
              </a:solidFill>
              <a:latin typeface="Arial"/>
              <a:ea typeface="Arial"/>
              <a:cs typeface="Arial"/>
              <a:sym typeface="Arial"/>
            </a:endParaRPr>
          </a:p>
        </p:txBody>
      </p:sp>
      <p:sp>
        <p:nvSpPr>
          <p:cNvPr id="132" name="Google Shape;132;p4"/>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none" strike="noStrike" cap="none">
                <a:solidFill>
                  <a:srgbClr val="222222"/>
                </a:solidFill>
                <a:highlight>
                  <a:srgbClr val="FFFFFF"/>
                </a:highlight>
                <a:latin typeface="Arial"/>
                <a:ea typeface="Arial"/>
                <a:cs typeface="Arial"/>
                <a:sym typeface="Arial"/>
              </a:rPr>
              <a:t>Canziani, A., Paszke, A., &amp; Culurciello, E. (2016). An analysis of deep neural network models for practical applications. </a:t>
            </a:r>
            <a:r>
              <a:rPr lang="es" sz="900" b="0" i="1" u="none" strike="noStrike" cap="none">
                <a:solidFill>
                  <a:srgbClr val="222222"/>
                </a:solidFill>
                <a:highlight>
                  <a:srgbClr val="FFFFFF"/>
                </a:highlight>
                <a:latin typeface="Arial"/>
                <a:ea typeface="Arial"/>
                <a:cs typeface="Arial"/>
                <a:sym typeface="Arial"/>
              </a:rPr>
              <a:t>arXiv preprint arXiv:1605.07678</a:t>
            </a:r>
            <a:r>
              <a:rPr lang="es" sz="900" b="0" i="0" u="none" strike="noStrike" cap="none">
                <a:solidFill>
                  <a:srgbClr val="222222"/>
                </a:solidFill>
                <a:highlight>
                  <a:srgbClr val="FFFFFF"/>
                </a:highlight>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133" name="Google Shape;133;p4"/>
          <p:cNvSpPr/>
          <p:nvPr/>
        </p:nvSpPr>
        <p:spPr>
          <a:xfrm>
            <a:off x="1979525" y="1270950"/>
            <a:ext cx="978600" cy="4611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592550" y="362700"/>
            <a:ext cx="7664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139" name="Google Shape;13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5</a:t>
            </a:fld>
            <a:endParaRPr/>
          </a:p>
        </p:txBody>
      </p:sp>
      <p:sp>
        <p:nvSpPr>
          <p:cNvPr id="140" name="Google Shape;140;p5"/>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sp>
        <p:nvSpPr>
          <p:cNvPr id="141" name="Google Shape;141;p5"/>
          <p:cNvSpPr txBox="1"/>
          <p:nvPr/>
        </p:nvSpPr>
        <p:spPr>
          <a:xfrm>
            <a:off x="287750" y="4502725"/>
            <a:ext cx="8274300" cy="669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sng" strike="noStrike" cap="none">
                <a:solidFill>
                  <a:schemeClr val="accent5"/>
                </a:solidFill>
                <a:latin typeface="Arial"/>
                <a:ea typeface="Arial"/>
                <a:cs typeface="Arial"/>
                <a:sym typeface="Arial"/>
                <a:hlinkClick r:id="rId3">
                  <a:extLst>
                    <a:ext uri="{A12FA001-AC4F-418D-AE19-62706E023703}">
                      <ahyp:hlinkClr xmlns:ahyp="http://schemas.microsoft.com/office/drawing/2018/hyperlinkcolor" val="tx"/>
                    </a:ext>
                  </a:extLst>
                </a:hlinkClick>
              </a:rPr>
              <a:t>https://culurciello.medium.com/analysis-of-deep-neural-networks-dcf398e71aae</a:t>
            </a:r>
            <a:r>
              <a:rPr lang="es" sz="900" b="0" i="0" u="none" strike="noStrike" cap="none">
                <a:solidFill>
                  <a:schemeClr val="dk1"/>
                </a:solidFill>
                <a:latin typeface="Arial"/>
                <a:ea typeface="Arial"/>
                <a:cs typeface="Arial"/>
                <a:sym typeface="Arial"/>
              </a:rPr>
              <a:t> </a:t>
            </a:r>
            <a:r>
              <a:rPr lang="es" sz="750" b="0" i="0" u="none" strike="noStrike" cap="none">
                <a:solidFill>
                  <a:srgbClr val="757575"/>
                </a:solidFill>
                <a:highlight>
                  <a:srgbClr val="FFFFFF"/>
                </a:highlight>
                <a:latin typeface="Arial"/>
                <a:ea typeface="Arial"/>
                <a:cs typeface="Arial"/>
                <a:sym typeface="Arial"/>
              </a:rPr>
              <a:t> updated Figure 10: Accuracy per parameter vs. network. Information density (accuracy per parameters) is an efficiency metric that highlight that capacity of a specific architecture to better utilise its parametric space. Models like VGG and AlexNet are clearly oversized, and do not take fully advantage of their potential learning ability. On the far right, ResNet-18, BN-NIN, GoogLeNet and ENet (marked by grey arrows) do a better job at “squeezing” all their neurons to learn the given task, and are the winners of this section.</a:t>
            </a:r>
            <a:endParaRPr sz="1100" b="0" i="0" u="none" strike="noStrike" cap="none">
              <a:solidFill>
                <a:srgbClr val="000000"/>
              </a:solidFill>
              <a:latin typeface="Arial"/>
              <a:ea typeface="Arial"/>
              <a:cs typeface="Arial"/>
              <a:sym typeface="Arial"/>
            </a:endParaRPr>
          </a:p>
        </p:txBody>
      </p:sp>
      <p:sp>
        <p:nvSpPr>
          <p:cNvPr id="142" name="Google Shape;142;p5"/>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 sz="900" b="0" i="0" u="none" strike="noStrike" cap="none">
                <a:solidFill>
                  <a:srgbClr val="222222"/>
                </a:solidFill>
                <a:highlight>
                  <a:srgbClr val="FFFFFF"/>
                </a:highlight>
                <a:latin typeface="Arial"/>
                <a:ea typeface="Arial"/>
                <a:cs typeface="Arial"/>
                <a:sym typeface="Arial"/>
              </a:rPr>
              <a:t>Canziani, A., Paszke, A., &amp; Culurciello, E. (2016). An analysis of deep neural network models for practical applications. </a:t>
            </a:r>
            <a:r>
              <a:rPr lang="es" sz="900" b="0" i="1" u="none" strike="noStrike" cap="none">
                <a:solidFill>
                  <a:srgbClr val="222222"/>
                </a:solidFill>
                <a:highlight>
                  <a:srgbClr val="FFFFFF"/>
                </a:highlight>
                <a:latin typeface="Arial"/>
                <a:ea typeface="Arial"/>
                <a:cs typeface="Arial"/>
                <a:sym typeface="Arial"/>
              </a:rPr>
              <a:t>arXiv preprint arXiv:1605.07678</a:t>
            </a:r>
            <a:r>
              <a:rPr lang="es" sz="900" b="0" i="0" u="none" strike="noStrike" cap="none">
                <a:solidFill>
                  <a:srgbClr val="222222"/>
                </a:solidFill>
                <a:highlight>
                  <a:srgbClr val="FFFFFF"/>
                </a:highlight>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pic>
        <p:nvPicPr>
          <p:cNvPr id="143" name="Google Shape;143;p5"/>
          <p:cNvPicPr preferRelativeResize="0"/>
          <p:nvPr/>
        </p:nvPicPr>
        <p:blipFill rotWithShape="1">
          <a:blip r:embed="rId4">
            <a:alphaModFix/>
          </a:blip>
          <a:srcRect/>
          <a:stretch/>
        </p:blipFill>
        <p:spPr>
          <a:xfrm>
            <a:off x="393225" y="1087800"/>
            <a:ext cx="6952812" cy="3262525"/>
          </a:xfrm>
          <a:prstGeom prst="rect">
            <a:avLst/>
          </a:prstGeom>
          <a:noFill/>
          <a:ln>
            <a:noFill/>
          </a:ln>
        </p:spPr>
      </p:pic>
      <p:sp>
        <p:nvSpPr>
          <p:cNvPr id="144" name="Google Shape;144;p5"/>
          <p:cNvSpPr/>
          <p:nvPr/>
        </p:nvSpPr>
        <p:spPr>
          <a:xfrm>
            <a:off x="3835300" y="3385425"/>
            <a:ext cx="607500" cy="4611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5"/>
          <p:cNvSpPr/>
          <p:nvPr/>
        </p:nvSpPr>
        <p:spPr>
          <a:xfrm>
            <a:off x="5011200" y="3176925"/>
            <a:ext cx="286200" cy="6696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a:spLocks noGrp="1"/>
          </p:cNvSpPr>
          <p:nvPr>
            <p:ph type="title"/>
          </p:nvPr>
        </p:nvSpPr>
        <p:spPr>
          <a:xfrm>
            <a:off x="592550" y="362700"/>
            <a:ext cx="7664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Redes y Cantidad de </a:t>
            </a:r>
            <a:endParaRPr>
              <a:solidFill>
                <a:srgbClr val="000000"/>
              </a:solidFill>
              <a:latin typeface="Oswald"/>
              <a:ea typeface="Oswald"/>
              <a:cs typeface="Oswald"/>
              <a:sym typeface="Oswald"/>
            </a:endParaRPr>
          </a:p>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Operaciones</a:t>
            </a:r>
            <a:endParaRPr i="1">
              <a:solidFill>
                <a:srgbClr val="000000"/>
              </a:solidFill>
              <a:latin typeface="Oswald"/>
              <a:ea typeface="Oswald"/>
              <a:cs typeface="Oswald"/>
              <a:sym typeface="Oswald"/>
            </a:endParaRPr>
          </a:p>
        </p:txBody>
      </p:sp>
      <p:pic>
        <p:nvPicPr>
          <p:cNvPr id="151" name="Google Shape;151;p6" descr="Capture.PNG"/>
          <p:cNvPicPr preferRelativeResize="0"/>
          <p:nvPr/>
        </p:nvPicPr>
        <p:blipFill rotWithShape="1">
          <a:blip r:embed="rId3">
            <a:alphaModFix/>
          </a:blip>
          <a:srcRect/>
          <a:stretch/>
        </p:blipFill>
        <p:spPr>
          <a:xfrm>
            <a:off x="4267200" y="0"/>
            <a:ext cx="4876800" cy="5143500"/>
          </a:xfrm>
          <a:prstGeom prst="rect">
            <a:avLst/>
          </a:prstGeom>
          <a:noFill/>
          <a:ln>
            <a:noFill/>
          </a:ln>
        </p:spPr>
      </p:pic>
      <p:sp>
        <p:nvSpPr>
          <p:cNvPr id="152" name="Google Shape;152;p6"/>
          <p:cNvSpPr txBox="1"/>
          <p:nvPr/>
        </p:nvSpPr>
        <p:spPr>
          <a:xfrm>
            <a:off x="549075" y="4044050"/>
            <a:ext cx="3041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sz="1400" b="0" i="0" u="none" strike="noStrike" cap="none">
                <a:solidFill>
                  <a:srgbClr val="000000"/>
                </a:solidFill>
                <a:latin typeface="Arial"/>
                <a:ea typeface="Arial"/>
                <a:cs typeface="Arial"/>
                <a:sym typeface="Arial"/>
              </a:rPr>
              <a:t>Ver más: https://keras.io/api/applications/</a:t>
            </a:r>
            <a:endParaRPr sz="1400" b="0" i="0" u="none" strike="noStrike" cap="none">
              <a:solidFill>
                <a:srgbClr val="000000"/>
              </a:solidFill>
              <a:latin typeface="Arial"/>
              <a:ea typeface="Arial"/>
              <a:cs typeface="Arial"/>
              <a:sym typeface="Arial"/>
            </a:endParaRPr>
          </a:p>
        </p:txBody>
      </p:sp>
      <p:sp>
        <p:nvSpPr>
          <p:cNvPr id="153" name="Google Shape;153;p6"/>
          <p:cNvSpPr/>
          <p:nvPr/>
        </p:nvSpPr>
        <p:spPr>
          <a:xfrm>
            <a:off x="4267200" y="2675275"/>
            <a:ext cx="4876800" cy="5727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7"/>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159" name="Google Shape;15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7</a:t>
            </a:fld>
            <a:endParaRPr/>
          </a:p>
        </p:txBody>
      </p:sp>
      <p:sp>
        <p:nvSpPr>
          <p:cNvPr id="160" name="Google Shape;160;p7"/>
          <p:cNvSpPr txBox="1"/>
          <p:nvPr/>
        </p:nvSpPr>
        <p:spPr>
          <a:xfrm>
            <a:off x="742325" y="1315925"/>
            <a:ext cx="7187100" cy="18009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Trabajo anterior mostró que las redes convolucionales  pueden ser sustancialmente más profundas, exactas y eficientes si contienen conexiones entre capas iniciales y finales</a:t>
            </a:r>
            <a:endParaRPr sz="21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8"/>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166" name="Google Shape;16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8</a:t>
            </a:fld>
            <a:endParaRPr/>
          </a:p>
        </p:txBody>
      </p:sp>
      <p:sp>
        <p:nvSpPr>
          <p:cNvPr id="167" name="Google Shape;167;p8"/>
          <p:cNvSpPr txBox="1"/>
          <p:nvPr/>
        </p:nvSpPr>
        <p:spPr>
          <a:xfrm>
            <a:off x="742325" y="1315925"/>
            <a:ext cx="7187100" cy="8313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En una red tradicional con L capas existen L conexiones, de una capa con la siguiente.</a:t>
            </a:r>
            <a:endParaRPr sz="2100" b="0" i="0" u="none" strike="noStrike" cap="none">
              <a:solidFill>
                <a:srgbClr val="000000"/>
              </a:solidFill>
              <a:latin typeface="Arial"/>
              <a:ea typeface="Arial"/>
              <a:cs typeface="Arial"/>
              <a:sym typeface="Arial"/>
            </a:endParaRPr>
          </a:p>
        </p:txBody>
      </p:sp>
      <p:pic>
        <p:nvPicPr>
          <p:cNvPr id="168" name="Google Shape;168;p8"/>
          <p:cNvPicPr preferRelativeResize="0"/>
          <p:nvPr/>
        </p:nvPicPr>
        <p:blipFill rotWithShape="1">
          <a:blip r:embed="rId3">
            <a:alphaModFix/>
          </a:blip>
          <a:srcRect/>
          <a:stretch/>
        </p:blipFill>
        <p:spPr>
          <a:xfrm>
            <a:off x="1034725" y="2691000"/>
            <a:ext cx="7210425" cy="1314450"/>
          </a:xfrm>
          <a:prstGeom prst="rect">
            <a:avLst/>
          </a:prstGeom>
          <a:noFill/>
          <a:ln>
            <a:noFill/>
          </a:ln>
        </p:spPr>
      </p:pic>
      <p:sp>
        <p:nvSpPr>
          <p:cNvPr id="169" name="Google Shape;169;p8"/>
          <p:cNvSpPr txBox="1"/>
          <p:nvPr/>
        </p:nvSpPr>
        <p:spPr>
          <a:xfrm>
            <a:off x="551125" y="4262700"/>
            <a:ext cx="3239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 sz="1000" b="0" i="0" u="none" strike="noStrike" cap="none">
                <a:solidFill>
                  <a:srgbClr val="000000"/>
                </a:solidFill>
                <a:latin typeface="Arial"/>
                <a:ea typeface="Arial"/>
                <a:cs typeface="Arial"/>
                <a:sym typeface="Arial"/>
              </a:rPr>
              <a:t>https://towardsdatascience.com/review-densenet-image-classification-b6631a8ef803</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175" name="Google Shape;175;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9</a:t>
            </a:fld>
            <a:endParaRPr/>
          </a:p>
        </p:txBody>
      </p:sp>
      <p:sp>
        <p:nvSpPr>
          <p:cNvPr id="176" name="Google Shape;176;p9"/>
          <p:cNvSpPr txBox="1"/>
          <p:nvPr/>
        </p:nvSpPr>
        <p:spPr>
          <a:xfrm>
            <a:off x="742325" y="1315925"/>
            <a:ext cx="7187100" cy="5079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En una ResNet tenemos skip connections aditivos</a:t>
            </a:r>
            <a:endParaRPr sz="2100" b="0" i="0" u="none" strike="noStrike" cap="none">
              <a:solidFill>
                <a:srgbClr val="000000"/>
              </a:solidFill>
              <a:latin typeface="Arial"/>
              <a:ea typeface="Arial"/>
              <a:cs typeface="Arial"/>
              <a:sym typeface="Arial"/>
            </a:endParaRPr>
          </a:p>
        </p:txBody>
      </p:sp>
      <p:sp>
        <p:nvSpPr>
          <p:cNvPr id="177" name="Google Shape;177;p9"/>
          <p:cNvSpPr txBox="1"/>
          <p:nvPr/>
        </p:nvSpPr>
        <p:spPr>
          <a:xfrm>
            <a:off x="551125" y="4262700"/>
            <a:ext cx="3239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 sz="1000" b="0" i="0" u="none" strike="noStrike" cap="none">
                <a:solidFill>
                  <a:srgbClr val="000000"/>
                </a:solidFill>
                <a:latin typeface="Arial"/>
                <a:ea typeface="Arial"/>
                <a:cs typeface="Arial"/>
                <a:sym typeface="Arial"/>
              </a:rPr>
              <a:t>https://towardsdatascience.com/review-densenet-image-classification-b6631a8ef803</a:t>
            </a:r>
            <a:endParaRPr sz="1000" b="0" i="0" u="none" strike="noStrike" cap="none">
              <a:solidFill>
                <a:srgbClr val="000000"/>
              </a:solidFill>
              <a:latin typeface="Arial"/>
              <a:ea typeface="Arial"/>
              <a:cs typeface="Arial"/>
              <a:sym typeface="Arial"/>
            </a:endParaRPr>
          </a:p>
        </p:txBody>
      </p:sp>
      <p:pic>
        <p:nvPicPr>
          <p:cNvPr id="178" name="Google Shape;178;p9"/>
          <p:cNvPicPr preferRelativeResize="0"/>
          <p:nvPr/>
        </p:nvPicPr>
        <p:blipFill rotWithShape="1">
          <a:blip r:embed="rId3">
            <a:alphaModFix/>
          </a:blip>
          <a:srcRect/>
          <a:stretch/>
        </p:blipFill>
        <p:spPr>
          <a:xfrm>
            <a:off x="843550" y="2343238"/>
            <a:ext cx="7267575" cy="2038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184" name="Google Shape;18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10</a:t>
            </a:fld>
            <a:endParaRPr/>
          </a:p>
        </p:txBody>
      </p:sp>
      <p:sp>
        <p:nvSpPr>
          <p:cNvPr id="185" name="Google Shape;185;p10"/>
          <p:cNvSpPr txBox="1"/>
          <p:nvPr/>
        </p:nvSpPr>
        <p:spPr>
          <a:xfrm>
            <a:off x="393675" y="1091000"/>
            <a:ext cx="3396600" cy="18009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En una DenseNet se tienen L(L+1)/2 conexiones, de una capa con todas sus subsecuentes</a:t>
            </a:r>
            <a:endParaRPr sz="2100" b="0" i="0" u="none" strike="noStrike" cap="none">
              <a:solidFill>
                <a:srgbClr val="000000"/>
              </a:solidFill>
              <a:latin typeface="Arial"/>
              <a:ea typeface="Arial"/>
              <a:cs typeface="Arial"/>
              <a:sym typeface="Arial"/>
            </a:endParaRPr>
          </a:p>
        </p:txBody>
      </p:sp>
      <p:pic>
        <p:nvPicPr>
          <p:cNvPr id="186" name="Google Shape;186;p10"/>
          <p:cNvPicPr preferRelativeResize="0"/>
          <p:nvPr/>
        </p:nvPicPr>
        <p:blipFill rotWithShape="1">
          <a:blip r:embed="rId3">
            <a:alphaModFix/>
          </a:blip>
          <a:srcRect/>
          <a:stretch/>
        </p:blipFill>
        <p:spPr>
          <a:xfrm>
            <a:off x="4088900" y="997075"/>
            <a:ext cx="4694937" cy="3931600"/>
          </a:xfrm>
          <a:prstGeom prst="rect">
            <a:avLst/>
          </a:prstGeom>
          <a:noFill/>
          <a:ln>
            <a:noFill/>
          </a:ln>
        </p:spPr>
      </p:pic>
      <p:sp>
        <p:nvSpPr>
          <p:cNvPr id="187" name="Google Shape;187;p10"/>
          <p:cNvSpPr txBox="1"/>
          <p:nvPr/>
        </p:nvSpPr>
        <p:spPr>
          <a:xfrm>
            <a:off x="477625" y="3075800"/>
            <a:ext cx="2035800" cy="1877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Huang, G., Liu, Z., Van Der Maaten, L., &amp; Weinberger, K. Q. (2017). Densely connected convolutional networks. In Proceedings of the IEEE conference on computer vision and pattern recognition (pp. 4700-4708).</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11"/>
          <p:cNvPicPr preferRelativeResize="0"/>
          <p:nvPr/>
        </p:nvPicPr>
        <p:blipFill rotWithShape="1">
          <a:blip r:embed="rId3">
            <a:alphaModFix/>
          </a:blip>
          <a:srcRect/>
          <a:stretch/>
        </p:blipFill>
        <p:spPr>
          <a:xfrm>
            <a:off x="2969325" y="1383425"/>
            <a:ext cx="5791200" cy="3000375"/>
          </a:xfrm>
          <a:prstGeom prst="rect">
            <a:avLst/>
          </a:prstGeom>
          <a:noFill/>
          <a:ln>
            <a:noFill/>
          </a:ln>
        </p:spPr>
      </p:pic>
      <p:sp>
        <p:nvSpPr>
          <p:cNvPr id="193" name="Google Shape;193;p11"/>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194" name="Google Shape;19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11</a:t>
            </a:fld>
            <a:endParaRPr/>
          </a:p>
        </p:txBody>
      </p:sp>
      <p:sp>
        <p:nvSpPr>
          <p:cNvPr id="195" name="Google Shape;195;p11"/>
          <p:cNvSpPr txBox="1"/>
          <p:nvPr/>
        </p:nvSpPr>
        <p:spPr>
          <a:xfrm>
            <a:off x="393675" y="1091000"/>
            <a:ext cx="4937400" cy="8313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En una DenseNet las conexiones son de concatenación</a:t>
            </a:r>
            <a:endParaRPr sz="2100" b="0" i="0" u="none" strike="noStrike" cap="none">
              <a:solidFill>
                <a:srgbClr val="000000"/>
              </a:solidFill>
              <a:latin typeface="Arial"/>
              <a:ea typeface="Arial"/>
              <a:cs typeface="Arial"/>
              <a:sym typeface="Arial"/>
            </a:endParaRPr>
          </a:p>
        </p:txBody>
      </p:sp>
      <p:sp>
        <p:nvSpPr>
          <p:cNvPr id="196" name="Google Shape;196;p11"/>
          <p:cNvSpPr txBox="1"/>
          <p:nvPr/>
        </p:nvSpPr>
        <p:spPr>
          <a:xfrm>
            <a:off x="821050" y="3805675"/>
            <a:ext cx="2035800" cy="1031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https://towardsdatascience.com/review-densenet-image-classification-b6631a8ef803</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12"/>
          <p:cNvPicPr preferRelativeResize="0"/>
          <p:nvPr/>
        </p:nvPicPr>
        <p:blipFill rotWithShape="1">
          <a:blip r:embed="rId3">
            <a:alphaModFix/>
          </a:blip>
          <a:srcRect/>
          <a:stretch/>
        </p:blipFill>
        <p:spPr>
          <a:xfrm>
            <a:off x="0" y="2024500"/>
            <a:ext cx="9144000" cy="2148837"/>
          </a:xfrm>
          <a:prstGeom prst="rect">
            <a:avLst/>
          </a:prstGeom>
          <a:noFill/>
          <a:ln>
            <a:noFill/>
          </a:ln>
        </p:spPr>
      </p:pic>
      <p:sp>
        <p:nvSpPr>
          <p:cNvPr id="202" name="Google Shape;202;p12"/>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Introducción</a:t>
            </a:r>
            <a:endParaRPr>
              <a:solidFill>
                <a:srgbClr val="000000"/>
              </a:solidFill>
              <a:latin typeface="Oswald"/>
              <a:ea typeface="Oswald"/>
              <a:cs typeface="Oswald"/>
              <a:sym typeface="Oswald"/>
            </a:endParaRPr>
          </a:p>
        </p:txBody>
      </p:sp>
      <p:sp>
        <p:nvSpPr>
          <p:cNvPr id="203" name="Google Shape;203;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12</a:t>
            </a:fld>
            <a:endParaRPr/>
          </a:p>
        </p:txBody>
      </p:sp>
      <p:sp>
        <p:nvSpPr>
          <p:cNvPr id="204" name="Google Shape;204;p12"/>
          <p:cNvSpPr txBox="1"/>
          <p:nvPr/>
        </p:nvSpPr>
        <p:spPr>
          <a:xfrm>
            <a:off x="393675" y="1091000"/>
            <a:ext cx="4937400" cy="8313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Arial"/>
              <a:buChar char="●"/>
            </a:pPr>
            <a:r>
              <a:rPr lang="es" sz="2100" b="0" i="0" u="none" strike="noStrike" cap="none">
                <a:solidFill>
                  <a:srgbClr val="000000"/>
                </a:solidFill>
                <a:latin typeface="Arial"/>
                <a:ea typeface="Arial"/>
                <a:cs typeface="Arial"/>
                <a:sym typeface="Arial"/>
              </a:rPr>
              <a:t>En una DenseNet las conexiones son de concatenación</a:t>
            </a:r>
            <a:endParaRPr sz="2100" b="0" i="0" u="none" strike="noStrike" cap="none">
              <a:solidFill>
                <a:srgbClr val="000000"/>
              </a:solidFill>
              <a:latin typeface="Arial"/>
              <a:ea typeface="Arial"/>
              <a:cs typeface="Arial"/>
              <a:sym typeface="Arial"/>
            </a:endParaRPr>
          </a:p>
        </p:txBody>
      </p:sp>
      <p:sp>
        <p:nvSpPr>
          <p:cNvPr id="205" name="Google Shape;205;p12"/>
          <p:cNvSpPr txBox="1"/>
          <p:nvPr/>
        </p:nvSpPr>
        <p:spPr>
          <a:xfrm>
            <a:off x="337450" y="4173325"/>
            <a:ext cx="2035800" cy="1031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https://towardsdatascience.com/review-densenet-image-classification-b6631a8ef803</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Arquitectura</a:t>
            </a:r>
            <a:endParaRPr>
              <a:solidFill>
                <a:srgbClr val="000000"/>
              </a:solidFill>
              <a:latin typeface="Oswald"/>
              <a:ea typeface="Oswald"/>
              <a:cs typeface="Oswald"/>
              <a:sym typeface="Oswald"/>
            </a:endParaRPr>
          </a:p>
        </p:txBody>
      </p:sp>
      <p:sp>
        <p:nvSpPr>
          <p:cNvPr id="211" name="Google Shape;21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13</a:t>
            </a:fld>
            <a:endParaRPr/>
          </a:p>
        </p:txBody>
      </p:sp>
      <p:pic>
        <p:nvPicPr>
          <p:cNvPr id="212" name="Google Shape;212;p13"/>
          <p:cNvPicPr preferRelativeResize="0"/>
          <p:nvPr/>
        </p:nvPicPr>
        <p:blipFill rotWithShape="1">
          <a:blip r:embed="rId3">
            <a:alphaModFix/>
          </a:blip>
          <a:srcRect/>
          <a:stretch/>
        </p:blipFill>
        <p:spPr>
          <a:xfrm>
            <a:off x="460773" y="907100"/>
            <a:ext cx="8087825" cy="4030425"/>
          </a:xfrm>
          <a:prstGeom prst="rect">
            <a:avLst/>
          </a:prstGeom>
          <a:noFill/>
          <a:ln>
            <a:noFill/>
          </a:ln>
        </p:spPr>
      </p:pic>
      <p:sp>
        <p:nvSpPr>
          <p:cNvPr id="213" name="Google Shape;213;p13"/>
          <p:cNvSpPr txBox="1"/>
          <p:nvPr/>
        </p:nvSpPr>
        <p:spPr>
          <a:xfrm>
            <a:off x="477625" y="3895650"/>
            <a:ext cx="2035800" cy="1369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https://towardsdatascience.com/review-densenet-image-classification-b6631a8ef803</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4"/>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Arquitectura</a:t>
            </a:r>
            <a:endParaRPr>
              <a:solidFill>
                <a:srgbClr val="000000"/>
              </a:solidFill>
              <a:latin typeface="Oswald"/>
              <a:ea typeface="Oswald"/>
              <a:cs typeface="Oswald"/>
              <a:sym typeface="Oswald"/>
            </a:endParaRPr>
          </a:p>
        </p:txBody>
      </p:sp>
      <p:sp>
        <p:nvSpPr>
          <p:cNvPr id="219" name="Google Shape;2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14</a:t>
            </a:fld>
            <a:endParaRPr/>
          </a:p>
        </p:txBody>
      </p:sp>
      <p:pic>
        <p:nvPicPr>
          <p:cNvPr id="220" name="Google Shape;220;p14"/>
          <p:cNvPicPr preferRelativeResize="0"/>
          <p:nvPr/>
        </p:nvPicPr>
        <p:blipFill rotWithShape="1">
          <a:blip r:embed="rId3">
            <a:alphaModFix/>
          </a:blip>
          <a:srcRect/>
          <a:stretch/>
        </p:blipFill>
        <p:spPr>
          <a:xfrm>
            <a:off x="181950" y="1858050"/>
            <a:ext cx="8839199" cy="1328866"/>
          </a:xfrm>
          <a:prstGeom prst="rect">
            <a:avLst/>
          </a:prstGeom>
          <a:noFill/>
          <a:ln>
            <a:noFill/>
          </a:ln>
        </p:spPr>
      </p:pic>
      <p:sp>
        <p:nvSpPr>
          <p:cNvPr id="221" name="Google Shape;221;p14"/>
          <p:cNvSpPr txBox="1"/>
          <p:nvPr/>
        </p:nvSpPr>
        <p:spPr>
          <a:xfrm>
            <a:off x="320175" y="3356975"/>
            <a:ext cx="2035800" cy="1877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Huang, G., Liu, Z., Van Der Maaten, L., &amp; Weinberger, K. Q. (2017). Densely connected convolutional networks. In Proceedings of the IEEE conference on computer vision and pattern recognition (pp. 4700-4708).</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15"/>
          <p:cNvPicPr preferRelativeResize="0"/>
          <p:nvPr/>
        </p:nvPicPr>
        <p:blipFill rotWithShape="1">
          <a:blip r:embed="rId3">
            <a:alphaModFix/>
          </a:blip>
          <a:srcRect/>
          <a:stretch/>
        </p:blipFill>
        <p:spPr>
          <a:xfrm>
            <a:off x="356675" y="1404025"/>
            <a:ext cx="8610600" cy="2762250"/>
          </a:xfrm>
          <a:prstGeom prst="rect">
            <a:avLst/>
          </a:prstGeom>
          <a:noFill/>
          <a:ln>
            <a:noFill/>
          </a:ln>
        </p:spPr>
      </p:pic>
      <p:sp>
        <p:nvSpPr>
          <p:cNvPr id="227" name="Google Shape;227;p15"/>
          <p:cNvSpPr txBox="1">
            <a:spLocks noGrp="1"/>
          </p:cNvSpPr>
          <p:nvPr>
            <p:ph type="title"/>
          </p:nvPr>
        </p:nvSpPr>
        <p:spPr>
          <a:xfrm>
            <a:off x="477625" y="334400"/>
            <a:ext cx="4204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Gradient Flow</a:t>
            </a:r>
            <a:endParaRPr>
              <a:solidFill>
                <a:srgbClr val="000000"/>
              </a:solidFill>
              <a:latin typeface="Oswald"/>
              <a:ea typeface="Oswald"/>
              <a:cs typeface="Oswald"/>
              <a:sym typeface="Oswald"/>
            </a:endParaRPr>
          </a:p>
        </p:txBody>
      </p:sp>
      <p:sp>
        <p:nvSpPr>
          <p:cNvPr id="228" name="Google Shape;22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15</a:t>
            </a:fld>
            <a:endParaRPr/>
          </a:p>
        </p:txBody>
      </p:sp>
      <p:sp>
        <p:nvSpPr>
          <p:cNvPr id="229" name="Google Shape;229;p15"/>
          <p:cNvSpPr txBox="1"/>
          <p:nvPr/>
        </p:nvSpPr>
        <p:spPr>
          <a:xfrm>
            <a:off x="477625" y="3895650"/>
            <a:ext cx="2035800" cy="1369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https://towardsdatascience.com/review-densenet-image-classification-b6631a8ef803</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16"/>
          <p:cNvPicPr preferRelativeResize="0"/>
          <p:nvPr/>
        </p:nvPicPr>
        <p:blipFill rotWithShape="1">
          <a:blip r:embed="rId3">
            <a:alphaModFix/>
          </a:blip>
          <a:srcRect/>
          <a:stretch/>
        </p:blipFill>
        <p:spPr>
          <a:xfrm>
            <a:off x="76200" y="907100"/>
            <a:ext cx="8991601" cy="3149674"/>
          </a:xfrm>
          <a:prstGeom prst="rect">
            <a:avLst/>
          </a:prstGeom>
          <a:noFill/>
          <a:ln>
            <a:noFill/>
          </a:ln>
        </p:spPr>
      </p:pic>
      <p:sp>
        <p:nvSpPr>
          <p:cNvPr id="235" name="Google Shape;235;p16"/>
          <p:cNvSpPr txBox="1"/>
          <p:nvPr/>
        </p:nvSpPr>
        <p:spPr>
          <a:xfrm>
            <a:off x="275175" y="4090375"/>
            <a:ext cx="5573400" cy="153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1"/>
                </a:solidFill>
                <a:latin typeface="Arial"/>
                <a:ea typeface="Arial"/>
                <a:cs typeface="Arial"/>
                <a:sym typeface="Arial"/>
              </a:rPr>
              <a:t>Huang, G., Liu, Z., Van Der Maaten, L., &amp; Weinberger, K. Q. (2017). Densely connected convolutional networks. In Proceedings of the IEEE conference on computer vision and pattern recognition (pp. 4700-4708).</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36" name="Google Shape;236;p16"/>
          <p:cNvSpPr txBox="1">
            <a:spLocks noGrp="1"/>
          </p:cNvSpPr>
          <p:nvPr>
            <p:ph type="title"/>
          </p:nvPr>
        </p:nvSpPr>
        <p:spPr>
          <a:xfrm>
            <a:off x="477625" y="334400"/>
            <a:ext cx="6687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Cantidad de Parámetros: ResNet vs DenseNet</a:t>
            </a:r>
            <a:endParaRPr>
              <a:solidFill>
                <a:srgbClr val="000000"/>
              </a:solidFill>
              <a:latin typeface="Oswald"/>
              <a:ea typeface="Oswald"/>
              <a:cs typeface="Oswald"/>
              <a:sym typeface="Oswald"/>
            </a:endParaRPr>
          </a:p>
        </p:txBody>
      </p:sp>
      <p:sp>
        <p:nvSpPr>
          <p:cNvPr id="237" name="Google Shape;23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17"/>
          <p:cNvPicPr preferRelativeResize="0"/>
          <p:nvPr/>
        </p:nvPicPr>
        <p:blipFill rotWithShape="1">
          <a:blip r:embed="rId3">
            <a:alphaModFix/>
          </a:blip>
          <a:srcRect/>
          <a:stretch/>
        </p:blipFill>
        <p:spPr>
          <a:xfrm>
            <a:off x="0" y="907100"/>
            <a:ext cx="9144000" cy="4057650"/>
          </a:xfrm>
          <a:prstGeom prst="rect">
            <a:avLst/>
          </a:prstGeom>
          <a:noFill/>
          <a:ln>
            <a:noFill/>
          </a:ln>
        </p:spPr>
      </p:pic>
      <p:sp>
        <p:nvSpPr>
          <p:cNvPr id="243" name="Google Shape;243;p17"/>
          <p:cNvSpPr txBox="1"/>
          <p:nvPr/>
        </p:nvSpPr>
        <p:spPr>
          <a:xfrm>
            <a:off x="477625" y="3895650"/>
            <a:ext cx="2035800" cy="1369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000000"/>
                </a:solidFill>
                <a:latin typeface="Arial"/>
                <a:ea typeface="Arial"/>
                <a:cs typeface="Arial"/>
                <a:sym typeface="Arial"/>
              </a:rPr>
              <a:t>https://towardsdatascience.com/review-densenet-image-classification-b6631a8ef803</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44" name="Google Shape;244;p17"/>
          <p:cNvSpPr txBox="1">
            <a:spLocks noGrp="1"/>
          </p:cNvSpPr>
          <p:nvPr>
            <p:ph type="title"/>
          </p:nvPr>
        </p:nvSpPr>
        <p:spPr>
          <a:xfrm>
            <a:off x="477625" y="334400"/>
            <a:ext cx="6687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solidFill>
                  <a:srgbClr val="000000"/>
                </a:solidFill>
                <a:latin typeface="Oswald"/>
                <a:ea typeface="Oswald"/>
                <a:cs typeface="Oswald"/>
                <a:sym typeface="Oswald"/>
              </a:rPr>
              <a:t>Cantidad de Parámetros: ResNet vs DenseNet</a:t>
            </a:r>
            <a:endParaRPr>
              <a:solidFill>
                <a:srgbClr val="000000"/>
              </a:solidFill>
              <a:latin typeface="Oswald"/>
              <a:ea typeface="Oswald"/>
              <a:cs typeface="Oswald"/>
              <a:sym typeface="Oswald"/>
            </a:endParaRPr>
          </a:p>
        </p:txBody>
      </p:sp>
      <p:sp>
        <p:nvSpPr>
          <p:cNvPr id="245" name="Google Shape;245;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s"/>
              <a:t>17</a:t>
            </a:fld>
            <a:endParaRPr/>
          </a:p>
        </p:txBody>
      </p:sp>
      <p:sp>
        <p:nvSpPr>
          <p:cNvPr id="246" name="Google Shape;246;p17"/>
          <p:cNvSpPr txBox="1"/>
          <p:nvPr/>
        </p:nvSpPr>
        <p:spPr>
          <a:xfrm>
            <a:off x="7501925" y="4450800"/>
            <a:ext cx="1270800" cy="692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s" sz="3300" b="0" i="1" u="none" strike="noStrike" cap="none">
                <a:solidFill>
                  <a:srgbClr val="292929"/>
                </a:solidFill>
                <a:latin typeface="Georgia"/>
                <a:ea typeface="Georgia"/>
                <a:cs typeface="Georgia"/>
                <a:sym typeface="Georgia"/>
              </a:rPr>
              <a:t>k</a:t>
            </a:r>
            <a:r>
              <a:rPr lang="es" sz="3300" b="0" i="0" u="none" strike="noStrike" cap="none">
                <a:solidFill>
                  <a:srgbClr val="292929"/>
                </a:solidFill>
                <a:latin typeface="Georgia"/>
                <a:ea typeface="Georgia"/>
                <a:cs typeface="Georgia"/>
                <a:sym typeface="Georgia"/>
              </a:rPr>
              <a:t>&lt;&lt;</a:t>
            </a:r>
            <a:r>
              <a:rPr lang="es" sz="3300" b="0" i="1" u="none" strike="noStrike" cap="none">
                <a:solidFill>
                  <a:srgbClr val="292929"/>
                </a:solidFill>
                <a:latin typeface="Georgia"/>
                <a:ea typeface="Georgia"/>
                <a:cs typeface="Georgia"/>
                <a:sym typeface="Georgia"/>
              </a:rPr>
              <a:t>C</a:t>
            </a:r>
            <a:endParaRPr sz="31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Bloque convolucional en DenseNet</a:t>
            </a:r>
            <a:endParaRPr>
              <a:latin typeface="Oswald"/>
              <a:ea typeface="Oswald"/>
              <a:cs typeface="Oswald"/>
              <a:sym typeface="Oswald"/>
            </a:endParaRPr>
          </a:p>
        </p:txBody>
      </p:sp>
      <p:pic>
        <p:nvPicPr>
          <p:cNvPr id="252" name="Google Shape;252;p18"/>
          <p:cNvPicPr preferRelativeResize="0"/>
          <p:nvPr/>
        </p:nvPicPr>
        <p:blipFill rotWithShape="1">
          <a:blip r:embed="rId3">
            <a:alphaModFix/>
          </a:blip>
          <a:srcRect/>
          <a:stretch/>
        </p:blipFill>
        <p:spPr>
          <a:xfrm>
            <a:off x="975975" y="1476325"/>
            <a:ext cx="7086600" cy="2581275"/>
          </a:xfrm>
          <a:prstGeom prst="rect">
            <a:avLst/>
          </a:prstGeom>
          <a:noFill/>
          <a:ln>
            <a:noFill/>
          </a:ln>
        </p:spPr>
      </p:pic>
      <p:pic>
        <p:nvPicPr>
          <p:cNvPr id="253" name="Google Shape;253;p18" descr="Apache MXNet | A flexible and efficient library for deep learning."/>
          <p:cNvPicPr preferRelativeResize="0"/>
          <p:nvPr/>
        </p:nvPicPr>
        <p:blipFill rotWithShape="1">
          <a:blip r:embed="rId4">
            <a:alphaModFix/>
          </a:blip>
          <a:srcRect/>
          <a:stretch/>
        </p:blipFill>
        <p:spPr>
          <a:xfrm>
            <a:off x="6261450" y="607400"/>
            <a:ext cx="2527800" cy="868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Bloque convolucional en DenseNet</a:t>
            </a:r>
            <a:endParaRPr>
              <a:latin typeface="Oswald"/>
              <a:ea typeface="Oswald"/>
              <a:cs typeface="Oswald"/>
              <a:sym typeface="Oswald"/>
            </a:endParaRPr>
          </a:p>
        </p:txBody>
      </p:sp>
      <p:pic>
        <p:nvPicPr>
          <p:cNvPr id="259" name="Google Shape;259;p19"/>
          <p:cNvPicPr preferRelativeResize="0"/>
          <p:nvPr/>
        </p:nvPicPr>
        <p:blipFill rotWithShape="1">
          <a:blip r:embed="rId3">
            <a:alphaModFix/>
          </a:blip>
          <a:srcRect/>
          <a:stretch/>
        </p:blipFill>
        <p:spPr>
          <a:xfrm>
            <a:off x="891500" y="1845875"/>
            <a:ext cx="7086600" cy="2171700"/>
          </a:xfrm>
          <a:prstGeom prst="rect">
            <a:avLst/>
          </a:prstGeom>
          <a:noFill/>
          <a:ln>
            <a:noFill/>
          </a:ln>
        </p:spPr>
      </p:pic>
      <p:pic>
        <p:nvPicPr>
          <p:cNvPr id="260" name="Google Shape;260;p19" descr="Razones para elegir PyTorch para el aprendizaje profundo"/>
          <p:cNvPicPr preferRelativeResize="0"/>
          <p:nvPr/>
        </p:nvPicPr>
        <p:blipFill rotWithShape="1">
          <a:blip r:embed="rId4">
            <a:alphaModFix/>
          </a:blip>
          <a:srcRect/>
          <a:stretch/>
        </p:blipFill>
        <p:spPr>
          <a:xfrm>
            <a:off x="6476325" y="390680"/>
            <a:ext cx="2355975" cy="1177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Bloque convolucional en DenseNet</a:t>
            </a:r>
            <a:endParaRPr>
              <a:latin typeface="Oswald"/>
              <a:ea typeface="Oswald"/>
              <a:cs typeface="Oswald"/>
              <a:sym typeface="Oswald"/>
            </a:endParaRPr>
          </a:p>
        </p:txBody>
      </p:sp>
      <p:pic>
        <p:nvPicPr>
          <p:cNvPr id="266" name="Google Shape;266;p20"/>
          <p:cNvPicPr preferRelativeResize="0"/>
          <p:nvPr/>
        </p:nvPicPr>
        <p:blipFill rotWithShape="1">
          <a:blip r:embed="rId3">
            <a:alphaModFix/>
          </a:blip>
          <a:srcRect/>
          <a:stretch/>
        </p:blipFill>
        <p:spPr>
          <a:xfrm>
            <a:off x="1285900" y="1091650"/>
            <a:ext cx="6762301" cy="3820975"/>
          </a:xfrm>
          <a:prstGeom prst="rect">
            <a:avLst/>
          </a:prstGeom>
          <a:noFill/>
          <a:ln>
            <a:noFill/>
          </a:ln>
        </p:spPr>
      </p:pic>
      <p:pic>
        <p:nvPicPr>
          <p:cNvPr id="267" name="Google Shape;267;p20" descr="Machine learning con TensorFlow y Keras en Python"/>
          <p:cNvPicPr preferRelativeResize="0"/>
          <p:nvPr/>
        </p:nvPicPr>
        <p:blipFill rotWithShape="1">
          <a:blip r:embed="rId4">
            <a:alphaModFix/>
          </a:blip>
          <a:srcRect/>
          <a:stretch/>
        </p:blipFill>
        <p:spPr>
          <a:xfrm>
            <a:off x="7271575" y="206526"/>
            <a:ext cx="1399600" cy="10496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DenseBlock</a:t>
            </a:r>
            <a:endParaRPr>
              <a:latin typeface="Oswald"/>
              <a:ea typeface="Oswald"/>
              <a:cs typeface="Oswald"/>
              <a:sym typeface="Oswald"/>
            </a:endParaRPr>
          </a:p>
        </p:txBody>
      </p:sp>
      <p:pic>
        <p:nvPicPr>
          <p:cNvPr id="273" name="Google Shape;273;p21"/>
          <p:cNvPicPr preferRelativeResize="0"/>
          <p:nvPr/>
        </p:nvPicPr>
        <p:blipFill rotWithShape="1">
          <a:blip r:embed="rId3">
            <a:alphaModFix/>
          </a:blip>
          <a:srcRect/>
          <a:stretch/>
        </p:blipFill>
        <p:spPr>
          <a:xfrm>
            <a:off x="1052513" y="1286275"/>
            <a:ext cx="7038975" cy="3067050"/>
          </a:xfrm>
          <a:prstGeom prst="rect">
            <a:avLst/>
          </a:prstGeom>
          <a:noFill/>
          <a:ln>
            <a:noFill/>
          </a:ln>
        </p:spPr>
      </p:pic>
      <p:pic>
        <p:nvPicPr>
          <p:cNvPr id="274" name="Google Shape;274;p21" descr="Apache MXNet | A flexible and efficient library for deep learning."/>
          <p:cNvPicPr preferRelativeResize="0"/>
          <p:nvPr/>
        </p:nvPicPr>
        <p:blipFill rotWithShape="1">
          <a:blip r:embed="rId4">
            <a:alphaModFix/>
          </a:blip>
          <a:srcRect/>
          <a:stretch/>
        </p:blipFill>
        <p:spPr>
          <a:xfrm>
            <a:off x="6261450" y="607400"/>
            <a:ext cx="2527800" cy="868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DenseBlock</a:t>
            </a:r>
            <a:endParaRPr>
              <a:latin typeface="Oswald"/>
              <a:ea typeface="Oswald"/>
              <a:cs typeface="Oswald"/>
              <a:sym typeface="Oswald"/>
            </a:endParaRPr>
          </a:p>
        </p:txBody>
      </p:sp>
      <p:pic>
        <p:nvPicPr>
          <p:cNvPr id="280" name="Google Shape;280;p22"/>
          <p:cNvPicPr preferRelativeResize="0"/>
          <p:nvPr/>
        </p:nvPicPr>
        <p:blipFill rotWithShape="1">
          <a:blip r:embed="rId3">
            <a:alphaModFix/>
          </a:blip>
          <a:srcRect/>
          <a:stretch/>
        </p:blipFill>
        <p:spPr>
          <a:xfrm>
            <a:off x="1052513" y="1212350"/>
            <a:ext cx="7038975" cy="3352800"/>
          </a:xfrm>
          <a:prstGeom prst="rect">
            <a:avLst/>
          </a:prstGeom>
          <a:noFill/>
          <a:ln>
            <a:noFill/>
          </a:ln>
        </p:spPr>
      </p:pic>
      <p:pic>
        <p:nvPicPr>
          <p:cNvPr id="281" name="Google Shape;281;p22" descr="Razones para elegir PyTorch para el aprendizaje profundo"/>
          <p:cNvPicPr preferRelativeResize="0"/>
          <p:nvPr/>
        </p:nvPicPr>
        <p:blipFill rotWithShape="1">
          <a:blip r:embed="rId4">
            <a:alphaModFix/>
          </a:blip>
          <a:srcRect/>
          <a:stretch/>
        </p:blipFill>
        <p:spPr>
          <a:xfrm>
            <a:off x="6476325" y="390680"/>
            <a:ext cx="2355975" cy="1177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DenseBlock</a:t>
            </a:r>
            <a:endParaRPr>
              <a:latin typeface="Oswald"/>
              <a:ea typeface="Oswald"/>
              <a:cs typeface="Oswald"/>
              <a:sym typeface="Oswald"/>
            </a:endParaRPr>
          </a:p>
        </p:txBody>
      </p:sp>
      <p:pic>
        <p:nvPicPr>
          <p:cNvPr id="287" name="Google Shape;287;p23"/>
          <p:cNvPicPr preferRelativeResize="0"/>
          <p:nvPr/>
        </p:nvPicPr>
        <p:blipFill rotWithShape="1">
          <a:blip r:embed="rId3">
            <a:alphaModFix/>
          </a:blip>
          <a:srcRect/>
          <a:stretch/>
        </p:blipFill>
        <p:spPr>
          <a:xfrm>
            <a:off x="1038225" y="1486875"/>
            <a:ext cx="7067550" cy="2486025"/>
          </a:xfrm>
          <a:prstGeom prst="rect">
            <a:avLst/>
          </a:prstGeom>
          <a:noFill/>
          <a:ln>
            <a:noFill/>
          </a:ln>
        </p:spPr>
      </p:pic>
      <p:pic>
        <p:nvPicPr>
          <p:cNvPr id="288" name="Google Shape;288;p23" descr="Machine learning con TensorFlow y Keras en Python"/>
          <p:cNvPicPr preferRelativeResize="0"/>
          <p:nvPr/>
        </p:nvPicPr>
        <p:blipFill rotWithShape="1">
          <a:blip r:embed="rId4">
            <a:alphaModFix/>
          </a:blip>
          <a:srcRect/>
          <a:stretch/>
        </p:blipFill>
        <p:spPr>
          <a:xfrm>
            <a:off x="7271575" y="206526"/>
            <a:ext cx="1399600" cy="10496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Salida en DenseNet</a:t>
            </a:r>
            <a:endParaRPr>
              <a:latin typeface="Oswald"/>
              <a:ea typeface="Oswald"/>
              <a:cs typeface="Oswald"/>
              <a:sym typeface="Oswald"/>
            </a:endParaRPr>
          </a:p>
        </p:txBody>
      </p:sp>
      <p:pic>
        <p:nvPicPr>
          <p:cNvPr id="294" name="Google Shape;294;p24" descr="Apache MXNet | A flexible and efficient library for deep learning."/>
          <p:cNvPicPr preferRelativeResize="0"/>
          <p:nvPr/>
        </p:nvPicPr>
        <p:blipFill rotWithShape="1">
          <a:blip r:embed="rId3">
            <a:alphaModFix/>
          </a:blip>
          <a:srcRect/>
          <a:stretch/>
        </p:blipFill>
        <p:spPr>
          <a:xfrm>
            <a:off x="6261450" y="607400"/>
            <a:ext cx="2527800" cy="868925"/>
          </a:xfrm>
          <a:prstGeom prst="rect">
            <a:avLst/>
          </a:prstGeom>
          <a:noFill/>
          <a:ln>
            <a:noFill/>
          </a:ln>
        </p:spPr>
      </p:pic>
      <p:pic>
        <p:nvPicPr>
          <p:cNvPr id="295" name="Google Shape;295;p24"/>
          <p:cNvPicPr preferRelativeResize="0"/>
          <p:nvPr/>
        </p:nvPicPr>
        <p:blipFill rotWithShape="1">
          <a:blip r:embed="rId4">
            <a:alphaModFix/>
          </a:blip>
          <a:srcRect/>
          <a:stretch/>
        </p:blipFill>
        <p:spPr>
          <a:xfrm>
            <a:off x="742975" y="2312400"/>
            <a:ext cx="7658051" cy="1154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Salida en DenseNet</a:t>
            </a:r>
            <a:endParaRPr>
              <a:latin typeface="Oswald"/>
              <a:ea typeface="Oswald"/>
              <a:cs typeface="Oswald"/>
              <a:sym typeface="Oswald"/>
            </a:endParaRPr>
          </a:p>
        </p:txBody>
      </p:sp>
      <p:pic>
        <p:nvPicPr>
          <p:cNvPr id="301" name="Google Shape;301;p25"/>
          <p:cNvPicPr preferRelativeResize="0"/>
          <p:nvPr/>
        </p:nvPicPr>
        <p:blipFill rotWithShape="1">
          <a:blip r:embed="rId3">
            <a:alphaModFix/>
          </a:blip>
          <a:srcRect l="-6939" b="-6939"/>
          <a:stretch/>
        </p:blipFill>
        <p:spPr>
          <a:xfrm>
            <a:off x="5730173" y="2"/>
            <a:ext cx="3287125" cy="4581525"/>
          </a:xfrm>
          <a:prstGeom prst="rect">
            <a:avLst/>
          </a:prstGeom>
          <a:noFill/>
          <a:ln>
            <a:noFill/>
          </a:ln>
        </p:spPr>
      </p:pic>
      <p:pic>
        <p:nvPicPr>
          <p:cNvPr id="302" name="Google Shape;302;p25"/>
          <p:cNvPicPr preferRelativeResize="0"/>
          <p:nvPr/>
        </p:nvPicPr>
        <p:blipFill rotWithShape="1">
          <a:blip r:embed="rId4">
            <a:alphaModFix/>
          </a:blip>
          <a:srcRect r="20739"/>
          <a:stretch/>
        </p:blipFill>
        <p:spPr>
          <a:xfrm>
            <a:off x="0" y="1800950"/>
            <a:ext cx="6537724" cy="2009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latin typeface="Oswald"/>
                <a:ea typeface="Oswald"/>
                <a:cs typeface="Oswald"/>
                <a:sym typeface="Oswald"/>
              </a:rPr>
              <a:t>Salida en DenseNet</a:t>
            </a:r>
            <a:endParaRPr>
              <a:latin typeface="Oswald"/>
              <a:ea typeface="Oswald"/>
              <a:cs typeface="Oswald"/>
              <a:sym typeface="Oswald"/>
            </a:endParaRPr>
          </a:p>
          <a:p>
            <a:pPr marL="0" lvl="0" indent="0" algn="l" rtl="0">
              <a:lnSpc>
                <a:spcPct val="100000"/>
              </a:lnSpc>
              <a:spcBef>
                <a:spcPts val="0"/>
              </a:spcBef>
              <a:spcAft>
                <a:spcPts val="0"/>
              </a:spcAft>
              <a:buSzPts val="2800"/>
              <a:buNone/>
            </a:pPr>
            <a:endParaRPr>
              <a:latin typeface="Oswald"/>
              <a:ea typeface="Oswald"/>
              <a:cs typeface="Oswald"/>
              <a:sym typeface="Oswald"/>
            </a:endParaRPr>
          </a:p>
        </p:txBody>
      </p:sp>
      <p:pic>
        <p:nvPicPr>
          <p:cNvPr id="308" name="Google Shape;308;p26" descr="Razones para elegir PyTorch para el aprendizaje profundo"/>
          <p:cNvPicPr preferRelativeResize="0"/>
          <p:nvPr/>
        </p:nvPicPr>
        <p:blipFill rotWithShape="1">
          <a:blip r:embed="rId3">
            <a:alphaModFix/>
          </a:blip>
          <a:srcRect/>
          <a:stretch/>
        </p:blipFill>
        <p:spPr>
          <a:xfrm>
            <a:off x="6476325" y="390680"/>
            <a:ext cx="2355975" cy="1177975"/>
          </a:xfrm>
          <a:prstGeom prst="rect">
            <a:avLst/>
          </a:prstGeom>
          <a:noFill/>
          <a:ln>
            <a:noFill/>
          </a:ln>
        </p:spPr>
      </p:pic>
      <p:pic>
        <p:nvPicPr>
          <p:cNvPr id="309" name="Google Shape;309;p26"/>
          <p:cNvPicPr preferRelativeResize="0"/>
          <p:nvPr/>
        </p:nvPicPr>
        <p:blipFill rotWithShape="1">
          <a:blip r:embed="rId4">
            <a:alphaModFix/>
          </a:blip>
          <a:srcRect/>
          <a:stretch/>
        </p:blipFill>
        <p:spPr>
          <a:xfrm>
            <a:off x="553650" y="2153974"/>
            <a:ext cx="7792701" cy="1341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latin typeface="Oswald"/>
                <a:ea typeface="Oswald"/>
                <a:cs typeface="Oswald"/>
                <a:sym typeface="Oswald"/>
              </a:rPr>
              <a:t>Salida en DenseNet</a:t>
            </a:r>
            <a:endParaRPr>
              <a:latin typeface="Oswald"/>
              <a:ea typeface="Oswald"/>
              <a:cs typeface="Oswald"/>
              <a:sym typeface="Oswald"/>
            </a:endParaRPr>
          </a:p>
          <a:p>
            <a:pPr marL="0" lvl="0" indent="0" algn="l" rtl="0">
              <a:lnSpc>
                <a:spcPct val="100000"/>
              </a:lnSpc>
              <a:spcBef>
                <a:spcPts val="0"/>
              </a:spcBef>
              <a:spcAft>
                <a:spcPts val="0"/>
              </a:spcAft>
              <a:buSzPts val="2800"/>
              <a:buNone/>
            </a:pPr>
            <a:endParaRPr>
              <a:latin typeface="Oswald"/>
              <a:ea typeface="Oswald"/>
              <a:cs typeface="Oswald"/>
              <a:sym typeface="Oswald"/>
            </a:endParaRPr>
          </a:p>
        </p:txBody>
      </p:sp>
      <p:pic>
        <p:nvPicPr>
          <p:cNvPr id="315" name="Google Shape;315;p27" descr="Machine learning con TensorFlow y Keras en Python"/>
          <p:cNvPicPr preferRelativeResize="0"/>
          <p:nvPr/>
        </p:nvPicPr>
        <p:blipFill rotWithShape="1">
          <a:blip r:embed="rId3">
            <a:alphaModFix/>
          </a:blip>
          <a:srcRect/>
          <a:stretch/>
        </p:blipFill>
        <p:spPr>
          <a:xfrm>
            <a:off x="7271575" y="206526"/>
            <a:ext cx="1399600" cy="1049696"/>
          </a:xfrm>
          <a:prstGeom prst="rect">
            <a:avLst/>
          </a:prstGeom>
          <a:noFill/>
          <a:ln>
            <a:noFill/>
          </a:ln>
        </p:spPr>
      </p:pic>
      <p:pic>
        <p:nvPicPr>
          <p:cNvPr id="316" name="Google Shape;316;p27"/>
          <p:cNvPicPr preferRelativeResize="0"/>
          <p:nvPr/>
        </p:nvPicPr>
        <p:blipFill rotWithShape="1">
          <a:blip r:embed="rId4">
            <a:alphaModFix/>
          </a:blip>
          <a:srcRect/>
          <a:stretch/>
        </p:blipFill>
        <p:spPr>
          <a:xfrm>
            <a:off x="377138" y="1662051"/>
            <a:ext cx="8389725" cy="258748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
                <a:latin typeface="Oswald"/>
                <a:ea typeface="Oswald"/>
                <a:cs typeface="Oswald"/>
                <a:sym typeface="Oswald"/>
              </a:rPr>
              <a:t>Salida en DenseNet 121</a:t>
            </a:r>
            <a:endParaRPr>
              <a:latin typeface="Oswald"/>
              <a:ea typeface="Oswald"/>
              <a:cs typeface="Oswald"/>
              <a:sym typeface="Oswald"/>
            </a:endParaRPr>
          </a:p>
          <a:p>
            <a:pPr marL="0" lvl="0" indent="0" algn="l" rtl="0">
              <a:lnSpc>
                <a:spcPct val="100000"/>
              </a:lnSpc>
              <a:spcBef>
                <a:spcPts val="0"/>
              </a:spcBef>
              <a:spcAft>
                <a:spcPts val="0"/>
              </a:spcAft>
              <a:buSzPts val="2800"/>
              <a:buNone/>
            </a:pPr>
            <a:endParaRPr>
              <a:latin typeface="Oswald"/>
              <a:ea typeface="Oswald"/>
              <a:cs typeface="Oswald"/>
              <a:sym typeface="Oswald"/>
            </a:endParaRPr>
          </a:p>
        </p:txBody>
      </p:sp>
      <p:pic>
        <p:nvPicPr>
          <p:cNvPr id="322" name="Google Shape;322;p28" descr="Machine learning con TensorFlow y Keras en Python"/>
          <p:cNvPicPr preferRelativeResize="0"/>
          <p:nvPr/>
        </p:nvPicPr>
        <p:blipFill rotWithShape="1">
          <a:blip r:embed="rId3">
            <a:alphaModFix/>
          </a:blip>
          <a:srcRect/>
          <a:stretch/>
        </p:blipFill>
        <p:spPr>
          <a:xfrm>
            <a:off x="7271575" y="206526"/>
            <a:ext cx="1399600" cy="1049696"/>
          </a:xfrm>
          <a:prstGeom prst="rect">
            <a:avLst/>
          </a:prstGeom>
          <a:noFill/>
          <a:ln>
            <a:noFill/>
          </a:ln>
        </p:spPr>
      </p:pic>
      <p:pic>
        <p:nvPicPr>
          <p:cNvPr id="323" name="Google Shape;323;p28"/>
          <p:cNvPicPr preferRelativeResize="0"/>
          <p:nvPr/>
        </p:nvPicPr>
        <p:blipFill rotWithShape="1">
          <a:blip r:embed="rId4">
            <a:alphaModFix/>
          </a:blip>
          <a:srcRect/>
          <a:stretch/>
        </p:blipFill>
        <p:spPr>
          <a:xfrm>
            <a:off x="525300" y="1414338"/>
            <a:ext cx="2080100" cy="1560075"/>
          </a:xfrm>
          <a:prstGeom prst="rect">
            <a:avLst/>
          </a:prstGeom>
          <a:noFill/>
          <a:ln>
            <a:noFill/>
          </a:ln>
        </p:spPr>
      </p:pic>
      <p:pic>
        <p:nvPicPr>
          <p:cNvPr id="324" name="Google Shape;324;p28" descr="Capture.PNG"/>
          <p:cNvPicPr preferRelativeResize="0"/>
          <p:nvPr/>
        </p:nvPicPr>
        <p:blipFill rotWithShape="1">
          <a:blip r:embed="rId5">
            <a:alphaModFix/>
          </a:blip>
          <a:srcRect/>
          <a:stretch/>
        </p:blipFill>
        <p:spPr>
          <a:xfrm>
            <a:off x="525300" y="3093300"/>
            <a:ext cx="3054199" cy="1644925"/>
          </a:xfrm>
          <a:prstGeom prst="rect">
            <a:avLst/>
          </a:prstGeom>
          <a:noFill/>
          <a:ln>
            <a:noFill/>
          </a:ln>
        </p:spPr>
      </p:pic>
      <p:pic>
        <p:nvPicPr>
          <p:cNvPr id="325" name="Google Shape;325;p28"/>
          <p:cNvPicPr preferRelativeResize="0"/>
          <p:nvPr/>
        </p:nvPicPr>
        <p:blipFill rotWithShape="1">
          <a:blip r:embed="rId6">
            <a:alphaModFix/>
          </a:blip>
          <a:srcRect/>
          <a:stretch/>
        </p:blipFill>
        <p:spPr>
          <a:xfrm>
            <a:off x="4445300" y="1256225"/>
            <a:ext cx="3654625" cy="3583525"/>
          </a:xfrm>
          <a:prstGeom prst="rect">
            <a:avLst/>
          </a:prstGeom>
          <a:noFill/>
          <a:ln>
            <a:noFill/>
          </a:ln>
        </p:spPr>
      </p:pic>
      <p:pic>
        <p:nvPicPr>
          <p:cNvPr id="326" name="Google Shape;326;p28"/>
          <p:cNvPicPr preferRelativeResize="0"/>
          <p:nvPr/>
        </p:nvPicPr>
        <p:blipFill rotWithShape="1">
          <a:blip r:embed="rId7">
            <a:alphaModFix/>
          </a:blip>
          <a:srcRect/>
          <a:stretch/>
        </p:blipFill>
        <p:spPr>
          <a:xfrm>
            <a:off x="2458925" y="1207795"/>
            <a:ext cx="1636275" cy="19731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717</Words>
  <Application>Microsoft Macintosh PowerPoint</Application>
  <PresentationFormat>Presentación en pantalla (16:9)</PresentationFormat>
  <Paragraphs>85</Paragraphs>
  <Slides>28</Slides>
  <Notes>28</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28</vt:i4>
      </vt:variant>
    </vt:vector>
  </HeadingPairs>
  <TitlesOfParts>
    <vt:vector size="34" baseType="lpstr">
      <vt:lpstr>Georgia</vt:lpstr>
      <vt:lpstr>Courier New</vt:lpstr>
      <vt:lpstr>Oswald</vt:lpstr>
      <vt:lpstr>Arial</vt:lpstr>
      <vt:lpstr>Simple Light</vt:lpstr>
      <vt:lpstr>Simple Light</vt:lpstr>
      <vt:lpstr>Presentación de PowerPoint</vt:lpstr>
      <vt:lpstr>Lectura Recomendada</vt:lpstr>
      <vt:lpstr>Lectura Recomendada</vt:lpstr>
      <vt:lpstr>Redes y Cantidad de Operaciones</vt:lpstr>
      <vt:lpstr>Redes y Cantidad de Operaciones</vt:lpstr>
      <vt:lpstr>Redes y Cantidad de  Operaciones</vt:lpstr>
      <vt:lpstr>Introducción</vt:lpstr>
      <vt:lpstr>Introducción</vt:lpstr>
      <vt:lpstr>Introducción</vt:lpstr>
      <vt:lpstr>Introducción</vt:lpstr>
      <vt:lpstr>Introducción</vt:lpstr>
      <vt:lpstr>Introducción</vt:lpstr>
      <vt:lpstr>Arquitectura</vt:lpstr>
      <vt:lpstr>Arquitectura</vt:lpstr>
      <vt:lpstr>Gradient Flow</vt:lpstr>
      <vt:lpstr>Cantidad de Parámetros: ResNet vs DenseNet</vt:lpstr>
      <vt:lpstr>Cantidad de Parámetros: ResNet vs DenseNet</vt:lpstr>
      <vt:lpstr>Bloque convolucional en DenseNet</vt:lpstr>
      <vt:lpstr>Bloque convolucional en DenseNet</vt:lpstr>
      <vt:lpstr>Bloque convolucional en DenseNet</vt:lpstr>
      <vt:lpstr>DenseBlock</vt:lpstr>
      <vt:lpstr>DenseBlock</vt:lpstr>
      <vt:lpstr>DenseBlock</vt:lpstr>
      <vt:lpstr>Salida en DenseNet</vt:lpstr>
      <vt:lpstr>Salida en DenseNet</vt:lpstr>
      <vt:lpstr>Salida en DenseNet </vt:lpstr>
      <vt:lpstr>Salida en DenseNet </vt:lpstr>
      <vt:lpstr>Salida en DenseNet 121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 </cp:lastModifiedBy>
  <cp:revision>2</cp:revision>
  <dcterms:modified xsi:type="dcterms:W3CDTF">2024-09-30T07:54:48Z</dcterms:modified>
</cp:coreProperties>
</file>